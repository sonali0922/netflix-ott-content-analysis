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7" r:id="rId10"/>
    <p:sldId id="265" r:id="rId11"/>
    <p:sldId id="266" r:id="rId12"/>
  </p:sldIdLst>
  <p:sldSz cx="14630400" cy="8229600"/>
  <p:notesSz cx="8229600" cy="14630400"/>
  <p:embeddedFontLst>
    <p:embeddedFont>
      <p:font typeface="Lato" panose="020F0502020204030203" pitchFamily="34" charset="0"/>
      <p:regular r:id="rId14"/>
      <p:bold r:id="rId15"/>
    </p:embeddedFont>
    <p:embeddedFont>
      <p:font typeface="Lato Bold" panose="020F0502020204030203" charset="0"/>
      <p:bold r:id="rId16"/>
    </p:embeddedFont>
    <p:embeddedFont>
      <p:font typeface="Lato Light" panose="020F0502020204030203" pitchFamily="34" charset="0"/>
      <p:regular r:id="rId17"/>
      <p: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72"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Downloads\netflix_datasetss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Asus\Downloads\netflix_datasetsss.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Asus\Downloads\netflix_datasetsss.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us\Downloads\netflix_datasetsss.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us\Downloads\netflix_datasetsss.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oleObject" Target="file:///C:\Users\Asus\Downloads\netflix_datasetsss.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Asus\Downloads\netflix_datasetss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[netflix_datasetsss.xlsx]Pivots!PivotTable2</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1933519556731546E-2"/>
          <c:y val="0.19944179251949365"/>
          <c:w val="0.84773289932147433"/>
          <c:h val="0.60410113677434552"/>
        </c:manualLayout>
      </c:layout>
      <c:barChart>
        <c:barDir val="col"/>
        <c:grouping val="clustered"/>
        <c:varyColors val="0"/>
        <c:ser>
          <c:idx val="0"/>
          <c:order val="0"/>
          <c:tx>
            <c:strRef>
              <c:f>Pivots!$J$1</c:f>
              <c:strCache>
                <c:ptCount val="1"/>
                <c:pt idx="0">
                  <c:v>Total</c:v>
                </c:pt>
              </c:strCache>
            </c:strRef>
          </c:tx>
          <c:spPr>
            <a:solidFill>
              <a:schemeClr val="accent1"/>
            </a:solidFill>
            <a:ln>
              <a:noFill/>
            </a:ln>
            <a:effectLst/>
          </c:spPr>
          <c:invertIfNegative val="0"/>
          <c:cat>
            <c:strRef>
              <c:f>Pivots!$I$2:$I$6</c:f>
              <c:strCache>
                <c:ptCount val="4"/>
                <c:pt idx="0">
                  <c:v>Action</c:v>
                </c:pt>
                <c:pt idx="1">
                  <c:v>Crime</c:v>
                </c:pt>
                <c:pt idx="2">
                  <c:v>Drama</c:v>
                </c:pt>
                <c:pt idx="3">
                  <c:v>Sci-Fi</c:v>
                </c:pt>
              </c:strCache>
            </c:strRef>
          </c:cat>
          <c:val>
            <c:numRef>
              <c:f>Pivots!$J$2:$J$6</c:f>
              <c:numCache>
                <c:formatCode>General</c:formatCode>
                <c:ptCount val="4"/>
                <c:pt idx="0">
                  <c:v>2</c:v>
                </c:pt>
                <c:pt idx="1">
                  <c:v>1</c:v>
                </c:pt>
                <c:pt idx="2">
                  <c:v>1</c:v>
                </c:pt>
                <c:pt idx="3">
                  <c:v>1</c:v>
                </c:pt>
              </c:numCache>
            </c:numRef>
          </c:val>
          <c:extLst>
            <c:ext xmlns:c16="http://schemas.microsoft.com/office/drawing/2014/chart" uri="{C3380CC4-5D6E-409C-BE32-E72D297353CC}">
              <c16:uniqueId val="{00000000-6741-4879-819A-BF8F90756BB7}"/>
            </c:ext>
          </c:extLst>
        </c:ser>
        <c:dLbls>
          <c:showLegendKey val="0"/>
          <c:showVal val="0"/>
          <c:showCatName val="0"/>
          <c:showSerName val="0"/>
          <c:showPercent val="0"/>
          <c:showBubbleSize val="0"/>
        </c:dLbls>
        <c:gapWidth val="219"/>
        <c:overlap val="-27"/>
        <c:axId val="537959072"/>
        <c:axId val="537960512"/>
      </c:barChart>
      <c:catAx>
        <c:axId val="53795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537960512"/>
        <c:crosses val="autoZero"/>
        <c:auto val="1"/>
        <c:lblAlgn val="ctr"/>
        <c:lblOffset val="100"/>
        <c:noMultiLvlLbl val="0"/>
      </c:catAx>
      <c:valAx>
        <c:axId val="53796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537959072"/>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77575348977845315"/>
          <c:y val="2.7872538000880655E-4"/>
          <c:w val="0.1791915819601268"/>
          <c:h val="0.21937939551005303"/>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[netflix_datasetsss.xlsx]Pivots!PivotTable3</c:name>
    <c:fmtId val="14"/>
  </c:pivotSource>
  <c:chart>
    <c:autoTitleDeleted val="1"/>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0.13955314960629925"/>
          <c:y val="0.26328484981044037"/>
          <c:w val="0.78015048118985131"/>
          <c:h val="0.53774387576552929"/>
        </c:manualLayout>
      </c:layout>
      <c:barChart>
        <c:barDir val="col"/>
        <c:grouping val="clustered"/>
        <c:varyColors val="0"/>
        <c:ser>
          <c:idx val="0"/>
          <c:order val="0"/>
          <c:tx>
            <c:strRef>
              <c:f>Pivots!$P$1</c:f>
              <c:strCache>
                <c:ptCount val="1"/>
                <c:pt idx="0">
                  <c:v>Total</c:v>
                </c:pt>
              </c:strCache>
            </c:strRef>
          </c:tx>
          <c:spPr>
            <a:solidFill>
              <a:schemeClr val="accent1"/>
            </a:solidFill>
            <a:ln>
              <a:noFill/>
            </a:ln>
            <a:effectLst/>
          </c:spPr>
          <c:invertIfNegative val="0"/>
          <c:cat>
            <c:strRef>
              <c:f>Pivots!$O$2:$O$5</c:f>
              <c:strCache>
                <c:ptCount val="3"/>
                <c:pt idx="0">
                  <c:v>India</c:v>
                </c:pt>
                <c:pt idx="1">
                  <c:v>Spain</c:v>
                </c:pt>
                <c:pt idx="2">
                  <c:v>United States</c:v>
                </c:pt>
              </c:strCache>
            </c:strRef>
          </c:cat>
          <c:val>
            <c:numRef>
              <c:f>Pivots!$P$2:$P$5</c:f>
              <c:numCache>
                <c:formatCode>General</c:formatCode>
                <c:ptCount val="3"/>
                <c:pt idx="0">
                  <c:v>1</c:v>
                </c:pt>
                <c:pt idx="1">
                  <c:v>1</c:v>
                </c:pt>
                <c:pt idx="2">
                  <c:v>3</c:v>
                </c:pt>
              </c:numCache>
            </c:numRef>
          </c:val>
          <c:extLst>
            <c:ext xmlns:c16="http://schemas.microsoft.com/office/drawing/2014/chart" uri="{C3380CC4-5D6E-409C-BE32-E72D297353CC}">
              <c16:uniqueId val="{00000000-DDD6-42F5-90BA-E48060971755}"/>
            </c:ext>
          </c:extLst>
        </c:ser>
        <c:dLbls>
          <c:showLegendKey val="0"/>
          <c:showVal val="0"/>
          <c:showCatName val="0"/>
          <c:showSerName val="0"/>
          <c:showPercent val="0"/>
          <c:showBubbleSize val="0"/>
        </c:dLbls>
        <c:gapWidth val="219"/>
        <c:overlap val="-27"/>
        <c:axId val="537959072"/>
        <c:axId val="537960512"/>
      </c:barChart>
      <c:catAx>
        <c:axId val="53795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537960512"/>
        <c:crosses val="autoZero"/>
        <c:auto val="1"/>
        <c:lblAlgn val="ctr"/>
        <c:lblOffset val="100"/>
        <c:noMultiLvlLbl val="0"/>
      </c:catAx>
      <c:valAx>
        <c:axId val="53796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537959072"/>
        <c:crosses val="autoZero"/>
        <c:crossBetween val="between"/>
      </c:valAx>
    </c:plotArea>
    <c:legend>
      <c:legendPos val="r"/>
      <c:layout>
        <c:manualLayout>
          <c:xMode val="edge"/>
          <c:yMode val="edge"/>
          <c:x val="0.43588850207504459"/>
          <c:y val="4.2891739314215159E-2"/>
          <c:w val="0.11797928402048419"/>
          <c:h val="7.2102470984632183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[netflix_datasetsss.xlsx]Pivots!PivotTable4</c:name>
    <c:fmtId val="20"/>
  </c:pivotSource>
  <c:chart>
    <c:autoTitleDeleted val="1"/>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4530083994634224E-2"/>
          <c:y val="0.16093177424606075"/>
          <c:w val="0.83263760283719357"/>
          <c:h val="0.74697079089170404"/>
        </c:manualLayout>
      </c:layout>
      <c:lineChart>
        <c:grouping val="percentStacked"/>
        <c:varyColors val="0"/>
        <c:ser>
          <c:idx val="0"/>
          <c:order val="0"/>
          <c:tx>
            <c:strRef>
              <c:f>Pivots!$Y$1</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Pivots!$X$2:$X$7</c:f>
              <c:strCache>
                <c:ptCount val="5"/>
                <c:pt idx="0">
                  <c:v>2010</c:v>
                </c:pt>
                <c:pt idx="1">
                  <c:v>2016</c:v>
                </c:pt>
                <c:pt idx="2">
                  <c:v>2017</c:v>
                </c:pt>
                <c:pt idx="3">
                  <c:v>2019</c:v>
                </c:pt>
                <c:pt idx="4">
                  <c:v>2022</c:v>
                </c:pt>
              </c:strCache>
            </c:strRef>
          </c:cat>
          <c:val>
            <c:numRef>
              <c:f>Pivots!$Y$2:$Y$7</c:f>
              <c:numCache>
                <c:formatCode>General</c:formatCode>
                <c:ptCount val="5"/>
                <c:pt idx="0">
                  <c:v>1</c:v>
                </c:pt>
                <c:pt idx="1">
                  <c:v>1</c:v>
                </c:pt>
                <c:pt idx="2">
                  <c:v>1</c:v>
                </c:pt>
                <c:pt idx="3">
                  <c:v>1</c:v>
                </c:pt>
                <c:pt idx="4">
                  <c:v>1</c:v>
                </c:pt>
              </c:numCache>
            </c:numRef>
          </c:val>
          <c:smooth val="0"/>
          <c:extLst>
            <c:ext xmlns:c16="http://schemas.microsoft.com/office/drawing/2014/chart" uri="{C3380CC4-5D6E-409C-BE32-E72D297353CC}">
              <c16:uniqueId val="{00000000-3A63-483B-9D29-AC2166E078EF}"/>
            </c:ext>
          </c:extLst>
        </c:ser>
        <c:dLbls>
          <c:showLegendKey val="0"/>
          <c:showVal val="0"/>
          <c:showCatName val="0"/>
          <c:showSerName val="0"/>
          <c:showPercent val="0"/>
          <c:showBubbleSize val="0"/>
        </c:dLbls>
        <c:marker val="1"/>
        <c:smooth val="0"/>
        <c:axId val="1872991007"/>
        <c:axId val="1872991487"/>
      </c:lineChart>
      <c:catAx>
        <c:axId val="1872991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872991487"/>
        <c:crosses val="autoZero"/>
        <c:auto val="1"/>
        <c:lblAlgn val="ctr"/>
        <c:lblOffset val="100"/>
        <c:noMultiLvlLbl val="0"/>
      </c:catAx>
      <c:valAx>
        <c:axId val="18729914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872991007"/>
        <c:crosses val="autoZero"/>
        <c:crossBetween val="between"/>
      </c:valAx>
      <c:spPr>
        <a:noFill/>
        <a:ln>
          <a:noFill/>
        </a:ln>
        <a:effectLst/>
      </c:spPr>
    </c:plotArea>
    <c:legend>
      <c:legendPos val="r"/>
      <c:layout>
        <c:manualLayout>
          <c:xMode val="edge"/>
          <c:yMode val="edge"/>
          <c:x val="0.44864790724344467"/>
          <c:y val="0"/>
          <c:w val="0.12046665563365426"/>
          <c:h val="0.11439560647867474"/>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[netflix_datasetsss.xlsx]Pivots!PivotTable1</c:name>
    <c:fmtId val="28"/>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s>
    <c:plotArea>
      <c:layout>
        <c:manualLayout>
          <c:layoutTarget val="inner"/>
          <c:xMode val="edge"/>
          <c:yMode val="edge"/>
          <c:x val="0.13055555555555556"/>
          <c:y val="0.26386869449537986"/>
          <c:w val="0.41147353455818025"/>
          <c:h val="0.68578922426363376"/>
        </c:manualLayout>
      </c:layout>
      <c:pieChart>
        <c:varyColors val="1"/>
        <c:ser>
          <c:idx val="0"/>
          <c:order val="0"/>
          <c:tx>
            <c:strRef>
              <c:f>Pivots!$B$1</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39B-4675-8A84-687E8E1985F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39B-4675-8A84-687E8E1985F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Pivots!$A$2:$A$4</c:f>
              <c:strCache>
                <c:ptCount val="2"/>
                <c:pt idx="0">
                  <c:v>Movie</c:v>
                </c:pt>
                <c:pt idx="1">
                  <c:v>TV Show</c:v>
                </c:pt>
              </c:strCache>
            </c:strRef>
          </c:cat>
          <c:val>
            <c:numRef>
              <c:f>Pivots!$B$2:$B$4</c:f>
              <c:numCache>
                <c:formatCode>General</c:formatCode>
                <c:ptCount val="2"/>
                <c:pt idx="0">
                  <c:v>3</c:v>
                </c:pt>
                <c:pt idx="1">
                  <c:v>2</c:v>
                </c:pt>
              </c:numCache>
            </c:numRef>
          </c:val>
          <c:extLst>
            <c:ext xmlns:c16="http://schemas.microsoft.com/office/drawing/2014/chart" uri="{C3380CC4-5D6E-409C-BE32-E72D297353CC}">
              <c16:uniqueId val="{00000004-D39B-4675-8A84-687E8E1985F1}"/>
            </c:ext>
          </c:extLst>
        </c:ser>
        <c:dLbls>
          <c:dLblPos val="outEnd"/>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9456452318460193"/>
          <c:y val="0.3803419264372776"/>
          <c:w val="0.20543547681539809"/>
          <c:h val="0.3665742638334591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[netflix_datasetsss.xlsx]Pivots!PivotTable2</c:name>
    <c:fmtId val="2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955314960629925"/>
          <c:y val="0.26328484981044037"/>
          <c:w val="0.78015048118985131"/>
          <c:h val="0.53774387576552929"/>
        </c:manualLayout>
      </c:layout>
      <c:barChart>
        <c:barDir val="col"/>
        <c:grouping val="clustered"/>
        <c:varyColors val="0"/>
        <c:ser>
          <c:idx val="0"/>
          <c:order val="0"/>
          <c:tx>
            <c:strRef>
              <c:f>Pivots!$J$1</c:f>
              <c:strCache>
                <c:ptCount val="1"/>
                <c:pt idx="0">
                  <c:v>Total</c:v>
                </c:pt>
              </c:strCache>
            </c:strRef>
          </c:tx>
          <c:spPr>
            <a:solidFill>
              <a:schemeClr val="accent1"/>
            </a:solidFill>
            <a:ln>
              <a:noFill/>
            </a:ln>
            <a:effectLst/>
          </c:spPr>
          <c:invertIfNegative val="0"/>
          <c:cat>
            <c:strRef>
              <c:f>Pivots!$I$2:$I$6</c:f>
              <c:strCache>
                <c:ptCount val="4"/>
                <c:pt idx="0">
                  <c:v>Action</c:v>
                </c:pt>
                <c:pt idx="1">
                  <c:v>Crime</c:v>
                </c:pt>
                <c:pt idx="2">
                  <c:v>Drama</c:v>
                </c:pt>
                <c:pt idx="3">
                  <c:v>Sci-Fi</c:v>
                </c:pt>
              </c:strCache>
            </c:strRef>
          </c:cat>
          <c:val>
            <c:numRef>
              <c:f>Pivots!$J$2:$J$6</c:f>
              <c:numCache>
                <c:formatCode>General</c:formatCode>
                <c:ptCount val="4"/>
                <c:pt idx="0">
                  <c:v>2</c:v>
                </c:pt>
                <c:pt idx="1">
                  <c:v>1</c:v>
                </c:pt>
                <c:pt idx="2">
                  <c:v>1</c:v>
                </c:pt>
                <c:pt idx="3">
                  <c:v>1</c:v>
                </c:pt>
              </c:numCache>
            </c:numRef>
          </c:val>
          <c:extLst>
            <c:ext xmlns:c16="http://schemas.microsoft.com/office/drawing/2014/chart" uri="{C3380CC4-5D6E-409C-BE32-E72D297353CC}">
              <c16:uniqueId val="{00000000-C71A-4DF4-BCE0-B30131F8CF41}"/>
            </c:ext>
          </c:extLst>
        </c:ser>
        <c:dLbls>
          <c:showLegendKey val="0"/>
          <c:showVal val="0"/>
          <c:showCatName val="0"/>
          <c:showSerName val="0"/>
          <c:showPercent val="0"/>
          <c:showBubbleSize val="0"/>
        </c:dLbls>
        <c:gapWidth val="219"/>
        <c:overlap val="-27"/>
        <c:axId val="537959072"/>
        <c:axId val="537960512"/>
      </c:barChart>
      <c:catAx>
        <c:axId val="53795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960512"/>
        <c:crosses val="autoZero"/>
        <c:auto val="1"/>
        <c:lblAlgn val="ctr"/>
        <c:lblOffset val="100"/>
        <c:noMultiLvlLbl val="0"/>
      </c:catAx>
      <c:valAx>
        <c:axId val="53796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95907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[netflix_datasetsss.xlsx]Pivots!PivotTable3</c:name>
    <c:fmtId val="33"/>
  </c:pivotSource>
  <c:chart>
    <c:autoTitleDeleted val="1"/>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121981627296589"/>
          <c:y val="0.28180336832895886"/>
          <c:w val="0.78015048118985131"/>
          <c:h val="0.53774387576552929"/>
        </c:manualLayout>
      </c:layout>
      <c:barChart>
        <c:barDir val="col"/>
        <c:grouping val="clustered"/>
        <c:varyColors val="0"/>
        <c:ser>
          <c:idx val="0"/>
          <c:order val="0"/>
          <c:tx>
            <c:strRef>
              <c:f>Pivots!$P$1</c:f>
              <c:strCache>
                <c:ptCount val="1"/>
                <c:pt idx="0">
                  <c:v>Total</c:v>
                </c:pt>
              </c:strCache>
            </c:strRef>
          </c:tx>
          <c:spPr>
            <a:solidFill>
              <a:schemeClr val="accent1"/>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Pivots!$O$2:$O$5</c:f>
              <c:strCache>
                <c:ptCount val="3"/>
                <c:pt idx="0">
                  <c:v>India</c:v>
                </c:pt>
                <c:pt idx="1">
                  <c:v>Spain</c:v>
                </c:pt>
                <c:pt idx="2">
                  <c:v>United States</c:v>
                </c:pt>
              </c:strCache>
            </c:strRef>
          </c:cat>
          <c:val>
            <c:numRef>
              <c:f>Pivots!$P$2:$P$5</c:f>
              <c:numCache>
                <c:formatCode>General</c:formatCode>
                <c:ptCount val="3"/>
                <c:pt idx="0">
                  <c:v>1</c:v>
                </c:pt>
                <c:pt idx="1">
                  <c:v>1</c:v>
                </c:pt>
                <c:pt idx="2">
                  <c:v>3</c:v>
                </c:pt>
              </c:numCache>
            </c:numRef>
          </c:val>
          <c:extLst>
            <c:ext xmlns:c16="http://schemas.microsoft.com/office/drawing/2014/chart" uri="{C3380CC4-5D6E-409C-BE32-E72D297353CC}">
              <c16:uniqueId val="{00000000-7DD2-420A-8217-4486B4FE2B9E}"/>
            </c:ext>
          </c:extLst>
        </c:ser>
        <c:dLbls>
          <c:dLblPos val="outEnd"/>
          <c:showLegendKey val="0"/>
          <c:showVal val="1"/>
          <c:showCatName val="0"/>
          <c:showSerName val="0"/>
          <c:showPercent val="0"/>
          <c:showBubbleSize val="0"/>
        </c:dLbls>
        <c:gapWidth val="219"/>
        <c:overlap val="-27"/>
        <c:axId val="537959072"/>
        <c:axId val="537960512"/>
      </c:barChart>
      <c:catAx>
        <c:axId val="53795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960512"/>
        <c:crosses val="autoZero"/>
        <c:auto val="1"/>
        <c:lblAlgn val="ctr"/>
        <c:lblOffset val="100"/>
        <c:noMultiLvlLbl val="0"/>
      </c:catAx>
      <c:valAx>
        <c:axId val="53796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959072"/>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[netflix_datasetsss.xlsx]Pivots!PivotTable4</c:name>
    <c:fmtId val="42"/>
  </c:pivotSource>
  <c:chart>
    <c:autoTitleDeleted val="1"/>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323381452318461"/>
          <c:y val="0.23087744240303296"/>
          <c:w val="0.71671019247594048"/>
          <c:h val="0.53774387576552929"/>
        </c:manualLayout>
      </c:layout>
      <c:lineChart>
        <c:grouping val="percentStacked"/>
        <c:varyColors val="0"/>
        <c:ser>
          <c:idx val="0"/>
          <c:order val="0"/>
          <c:tx>
            <c:strRef>
              <c:f>Pivots!$Y$1</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Pivots!$X$2:$X$7</c:f>
              <c:strCache>
                <c:ptCount val="5"/>
                <c:pt idx="0">
                  <c:v>2010</c:v>
                </c:pt>
                <c:pt idx="1">
                  <c:v>2016</c:v>
                </c:pt>
                <c:pt idx="2">
                  <c:v>2017</c:v>
                </c:pt>
                <c:pt idx="3">
                  <c:v>2019</c:v>
                </c:pt>
                <c:pt idx="4">
                  <c:v>2022</c:v>
                </c:pt>
              </c:strCache>
            </c:strRef>
          </c:cat>
          <c:val>
            <c:numRef>
              <c:f>Pivots!$Y$2:$Y$7</c:f>
              <c:numCache>
                <c:formatCode>General</c:formatCode>
                <c:ptCount val="5"/>
                <c:pt idx="0">
                  <c:v>1</c:v>
                </c:pt>
                <c:pt idx="1">
                  <c:v>1</c:v>
                </c:pt>
                <c:pt idx="2">
                  <c:v>1</c:v>
                </c:pt>
                <c:pt idx="3">
                  <c:v>1</c:v>
                </c:pt>
                <c:pt idx="4">
                  <c:v>1</c:v>
                </c:pt>
              </c:numCache>
            </c:numRef>
          </c:val>
          <c:smooth val="0"/>
          <c:extLst>
            <c:ext xmlns:c16="http://schemas.microsoft.com/office/drawing/2014/chart" uri="{C3380CC4-5D6E-409C-BE32-E72D297353CC}">
              <c16:uniqueId val="{00000000-6EAF-4724-9FB1-0554A47F5B7A}"/>
            </c:ext>
          </c:extLst>
        </c:ser>
        <c:dLbls>
          <c:dLblPos val="t"/>
          <c:showLegendKey val="0"/>
          <c:showVal val="1"/>
          <c:showCatName val="0"/>
          <c:showSerName val="0"/>
          <c:showPercent val="0"/>
          <c:showBubbleSize val="0"/>
        </c:dLbls>
        <c:marker val="1"/>
        <c:smooth val="0"/>
        <c:axId val="1872991007"/>
        <c:axId val="1872991487"/>
      </c:lineChart>
      <c:catAx>
        <c:axId val="1872991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2991487"/>
        <c:crosses val="autoZero"/>
        <c:auto val="1"/>
        <c:lblAlgn val="ctr"/>
        <c:lblOffset val="100"/>
        <c:noMultiLvlLbl val="0"/>
      </c:catAx>
      <c:valAx>
        <c:axId val="18729914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29910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394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0.xml"/><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55112" y="1317564"/>
            <a:ext cx="7413546"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Netflix OTT Content Analysis</a:t>
            </a:r>
            <a:endParaRPr lang="en-US" sz="4450" dirty="0"/>
          </a:p>
        </p:txBody>
      </p:sp>
      <p:sp>
        <p:nvSpPr>
          <p:cNvPr id="4" name="Text 1"/>
          <p:cNvSpPr/>
          <p:nvPr/>
        </p:nvSpPr>
        <p:spPr>
          <a:xfrm>
            <a:off x="6137521" y="2609246"/>
            <a:ext cx="5539859" cy="566976"/>
          </a:xfrm>
          <a:prstGeom prst="rect">
            <a:avLst/>
          </a:prstGeom>
          <a:noFill/>
          <a:ln/>
        </p:spPr>
        <p:txBody>
          <a:bodyPr wrap="none" lIns="0" tIns="0" rIns="0" bIns="0" rtlCol="0" anchor="t"/>
          <a:lstStyle/>
          <a:p>
            <a:pPr marL="0" indent="0" algn="l">
              <a:lnSpc>
                <a:spcPts val="4450"/>
              </a:lnSpc>
              <a:buNone/>
            </a:pPr>
            <a:r>
              <a:rPr lang="en-US" sz="3550" b="1" dirty="0">
                <a:solidFill>
                  <a:srgbClr val="282824"/>
                </a:solidFill>
                <a:latin typeface="Lato Bold" pitchFamily="34" charset="0"/>
                <a:ea typeface="Lato Bold" pitchFamily="34" charset="-122"/>
                <a:cs typeface="Lato Bold" pitchFamily="34" charset="-120"/>
              </a:rPr>
              <a:t>Minor Project Presentation</a:t>
            </a:r>
            <a:endParaRPr lang="en-US" sz="3550" dirty="0"/>
          </a:p>
        </p:txBody>
      </p:sp>
      <p:sp>
        <p:nvSpPr>
          <p:cNvPr id="5" name="Text 2"/>
          <p:cNvSpPr/>
          <p:nvPr/>
        </p:nvSpPr>
        <p:spPr>
          <a:xfrm>
            <a:off x="6055112" y="3479180"/>
            <a:ext cx="8263054" cy="3055435"/>
          </a:xfrm>
          <a:prstGeom prst="rect">
            <a:avLst/>
          </a:prstGeom>
          <a:noFill/>
          <a:ln/>
        </p:spPr>
        <p:txBody>
          <a:bodyPr wrap="square" lIns="0" tIns="0" rIns="0" bIns="0" rtlCol="0" anchor="t"/>
          <a:lstStyle/>
          <a:p>
            <a:pPr marL="0" indent="0" algn="l">
              <a:lnSpc>
                <a:spcPts val="2250"/>
              </a:lnSpc>
              <a:buNone/>
            </a:pPr>
            <a:endParaRPr lang="en-US" sz="4000" b="1" dirty="0">
              <a:solidFill>
                <a:srgbClr val="4A4A45"/>
              </a:solidFill>
              <a:latin typeface="Lato" pitchFamily="34" charset="0"/>
              <a:ea typeface="Lato" pitchFamily="34" charset="-122"/>
              <a:cs typeface="Lato" pitchFamily="34" charset="-120"/>
            </a:endParaRPr>
          </a:p>
          <a:p>
            <a:pPr marL="0" indent="0" algn="l">
              <a:lnSpc>
                <a:spcPts val="2250"/>
              </a:lnSpc>
              <a:buNone/>
            </a:pPr>
            <a:endParaRPr lang="en-US" sz="4000" b="1" dirty="0">
              <a:solidFill>
                <a:srgbClr val="4A4A45"/>
              </a:solidFill>
              <a:latin typeface="Lato" pitchFamily="34" charset="0"/>
              <a:ea typeface="Lato" pitchFamily="34" charset="-122"/>
              <a:cs typeface="Lato" pitchFamily="34" charset="-120"/>
            </a:endParaRPr>
          </a:p>
          <a:p>
            <a:pPr marL="0" indent="0" algn="l">
              <a:lnSpc>
                <a:spcPts val="2250"/>
              </a:lnSpc>
              <a:buNone/>
            </a:pPr>
            <a:r>
              <a:rPr lang="en-US" sz="4000" b="1" dirty="0">
                <a:solidFill>
                  <a:srgbClr val="4A4A45"/>
                </a:solidFill>
                <a:latin typeface="Lato" pitchFamily="34" charset="0"/>
                <a:ea typeface="Lato" pitchFamily="34" charset="-122"/>
                <a:cs typeface="Lato" pitchFamily="34" charset="-120"/>
              </a:rPr>
              <a:t>Submitted By :</a:t>
            </a:r>
            <a:r>
              <a:rPr lang="en-US" sz="4000" dirty="0">
                <a:solidFill>
                  <a:srgbClr val="4A4A45"/>
                </a:solidFill>
                <a:latin typeface="Lato" pitchFamily="34" charset="0"/>
                <a:ea typeface="Lato" pitchFamily="34" charset="-122"/>
                <a:cs typeface="Lato" pitchFamily="34" charset="-120"/>
              </a:rPr>
              <a:t> Sonali Tripathi,</a:t>
            </a:r>
          </a:p>
          <a:p>
            <a:pPr marL="0" indent="0" algn="l">
              <a:lnSpc>
                <a:spcPts val="2250"/>
              </a:lnSpc>
              <a:buNone/>
            </a:pPr>
            <a:endParaRPr lang="en-US" sz="4000" dirty="0">
              <a:solidFill>
                <a:srgbClr val="4A4A45"/>
              </a:solidFill>
              <a:latin typeface="Lato" pitchFamily="34" charset="0"/>
              <a:ea typeface="Lato" pitchFamily="34" charset="-122"/>
              <a:cs typeface="Lato" pitchFamily="34" charset="-120"/>
            </a:endParaRPr>
          </a:p>
          <a:p>
            <a:pPr marL="0" indent="0" algn="l">
              <a:lnSpc>
                <a:spcPts val="2250"/>
              </a:lnSpc>
              <a:buNone/>
            </a:pPr>
            <a:r>
              <a:rPr lang="en-US" sz="4000" dirty="0">
                <a:solidFill>
                  <a:srgbClr val="4A4A45"/>
                </a:solidFill>
                <a:latin typeface="Lato" pitchFamily="34" charset="0"/>
                <a:ea typeface="Lato" pitchFamily="34" charset="-122"/>
                <a:cs typeface="Lato" pitchFamily="34" charset="-120"/>
              </a:rPr>
              <a:t>           Ujjawal Pandey,</a:t>
            </a:r>
          </a:p>
          <a:p>
            <a:pPr marL="0" indent="0" algn="l">
              <a:lnSpc>
                <a:spcPts val="2250"/>
              </a:lnSpc>
              <a:buNone/>
            </a:pPr>
            <a:endParaRPr lang="en-US" sz="4000" dirty="0">
              <a:solidFill>
                <a:srgbClr val="4A4A45"/>
              </a:solidFill>
              <a:latin typeface="Lato" pitchFamily="34" charset="0"/>
              <a:ea typeface="Lato" pitchFamily="34" charset="-122"/>
              <a:cs typeface="Lato" pitchFamily="34" charset="-120"/>
            </a:endParaRPr>
          </a:p>
          <a:p>
            <a:pPr marL="0" indent="0" algn="l">
              <a:lnSpc>
                <a:spcPts val="2250"/>
              </a:lnSpc>
              <a:buNone/>
            </a:pPr>
            <a:r>
              <a:rPr lang="en-US" sz="4000" dirty="0">
                <a:solidFill>
                  <a:srgbClr val="4A4A45"/>
                </a:solidFill>
                <a:latin typeface="Lato" pitchFamily="34" charset="0"/>
                <a:ea typeface="Lato" pitchFamily="34" charset="-122"/>
                <a:cs typeface="Lato" pitchFamily="34" charset="-120"/>
              </a:rPr>
              <a:t>           Raj Patel</a:t>
            </a:r>
          </a:p>
          <a:p>
            <a:pPr marL="0" indent="0" algn="l">
              <a:lnSpc>
                <a:spcPts val="2250"/>
              </a:lnSpc>
              <a:buNone/>
            </a:pPr>
            <a:endParaRPr lang="en-US" sz="4000" b="1" dirty="0">
              <a:solidFill>
                <a:srgbClr val="4A4A45"/>
              </a:solidFill>
              <a:latin typeface="Lato" pitchFamily="34" charset="0"/>
              <a:ea typeface="Lato" pitchFamily="34" charset="-122"/>
              <a:cs typeface="Lato" pitchFamily="34" charset="-120"/>
            </a:endParaRPr>
          </a:p>
          <a:p>
            <a:pPr marL="0" indent="0" algn="l">
              <a:lnSpc>
                <a:spcPts val="2250"/>
              </a:lnSpc>
              <a:buNone/>
            </a:pPr>
            <a:endParaRPr lang="en-US" sz="4000" b="1" dirty="0">
              <a:solidFill>
                <a:srgbClr val="4A4A45"/>
              </a:solidFill>
              <a:latin typeface="Lato" pitchFamily="34" charset="0"/>
              <a:ea typeface="Lato" pitchFamily="34" charset="-122"/>
              <a:cs typeface="Lato" pitchFamily="34" charset="-120"/>
            </a:endParaRPr>
          </a:p>
          <a:p>
            <a:pPr marL="0" indent="0" algn="l">
              <a:lnSpc>
                <a:spcPts val="2250"/>
              </a:lnSpc>
              <a:buNone/>
            </a:pPr>
            <a:r>
              <a:rPr lang="en-US" sz="4000" b="1" dirty="0">
                <a:solidFill>
                  <a:srgbClr val="4A4A45"/>
                </a:solidFill>
                <a:latin typeface="Lato" pitchFamily="34" charset="0"/>
                <a:ea typeface="Lato" pitchFamily="34" charset="-122"/>
                <a:cs typeface="Lato" pitchFamily="34" charset="-120"/>
              </a:rPr>
              <a:t>Branch:</a:t>
            </a:r>
            <a:r>
              <a:rPr lang="en-US" sz="4000" dirty="0">
                <a:solidFill>
                  <a:srgbClr val="4A4A45"/>
                </a:solidFill>
                <a:latin typeface="Lato" pitchFamily="34" charset="0"/>
                <a:ea typeface="Lato" pitchFamily="34" charset="-122"/>
                <a:cs typeface="Lato" pitchFamily="34" charset="-120"/>
              </a:rPr>
              <a:t> CSBS</a:t>
            </a:r>
            <a:endParaRPr lang="en-US" sz="4000" dirty="0"/>
          </a:p>
        </p:txBody>
      </p:sp>
      <p:pic>
        <p:nvPicPr>
          <p:cNvPr id="6" name="Graphic 5">
            <a:extLst>
              <a:ext uri="{FF2B5EF4-FFF2-40B4-BE49-F238E27FC236}">
                <a16:creationId xmlns:a16="http://schemas.microsoft.com/office/drawing/2014/main" id="{0F62833C-6E8D-3DEE-9357-DCEF6D9974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20186" y="-565097"/>
            <a:ext cx="2133599" cy="23124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67677"/>
            <a:ext cx="12515731"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Introduction to OTT: The Future of Entertainment</a:t>
            </a:r>
            <a:endParaRPr lang="en-US" sz="4450" dirty="0"/>
          </a:p>
        </p:txBody>
      </p:sp>
      <p:sp>
        <p:nvSpPr>
          <p:cNvPr id="3" name="Text 1"/>
          <p:cNvSpPr/>
          <p:nvPr/>
        </p:nvSpPr>
        <p:spPr>
          <a:xfrm>
            <a:off x="793790" y="353008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Over-The-Top (OTT) refers to content providers that distribute streaming media directly to viewers over the internet, bypassing traditional broadcast or cable television. This direct delivery model is revolutionising how we consume media.</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4511040"/>
            <a:ext cx="566976" cy="566976"/>
          </a:xfrm>
          <a:prstGeom prst="rect">
            <a:avLst/>
          </a:prstGeom>
        </p:spPr>
      </p:pic>
      <p:sp>
        <p:nvSpPr>
          <p:cNvPr id="5" name="Text 2"/>
          <p:cNvSpPr/>
          <p:nvPr/>
        </p:nvSpPr>
        <p:spPr>
          <a:xfrm>
            <a:off x="1644253" y="464570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Direct Delivery</a:t>
            </a:r>
            <a:endParaRPr lang="en-US" sz="2200" dirty="0"/>
          </a:p>
        </p:txBody>
      </p:sp>
      <p:sp>
        <p:nvSpPr>
          <p:cNvPr id="6" name="Text 3"/>
          <p:cNvSpPr/>
          <p:nvPr/>
        </p:nvSpPr>
        <p:spPr>
          <a:xfrm>
            <a:off x="1644253" y="5136118"/>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Content delivered straight to your device.</a:t>
            </a:r>
            <a:endParaRPr lang="en-US" sz="17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4511040"/>
            <a:ext cx="566976" cy="566976"/>
          </a:xfrm>
          <a:prstGeom prst="rect">
            <a:avLst/>
          </a:prstGeom>
        </p:spPr>
      </p:pic>
      <p:sp>
        <p:nvSpPr>
          <p:cNvPr id="8" name="Text 4"/>
          <p:cNvSpPr/>
          <p:nvPr/>
        </p:nvSpPr>
        <p:spPr>
          <a:xfrm>
            <a:off x="6086356" y="464570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Global Reach</a:t>
            </a:r>
            <a:endParaRPr lang="en-US" sz="2200" dirty="0"/>
          </a:p>
        </p:txBody>
      </p:sp>
      <p:sp>
        <p:nvSpPr>
          <p:cNvPr id="9" name="Text 5"/>
          <p:cNvSpPr/>
          <p:nvPr/>
        </p:nvSpPr>
        <p:spPr>
          <a:xfrm>
            <a:off x="6086356" y="5136118"/>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Accessible anytime, anywhere with internet.</a:t>
            </a:r>
            <a:endParaRPr lang="en-US" sz="17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4511040"/>
            <a:ext cx="566976" cy="566976"/>
          </a:xfrm>
          <a:prstGeom prst="rect">
            <a:avLst/>
          </a:prstGeom>
        </p:spPr>
      </p:pic>
      <p:sp>
        <p:nvSpPr>
          <p:cNvPr id="11" name="Text 6"/>
          <p:cNvSpPr/>
          <p:nvPr/>
        </p:nvSpPr>
        <p:spPr>
          <a:xfrm>
            <a:off x="10528459" y="464570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Rapid Growth</a:t>
            </a:r>
            <a:endParaRPr lang="en-US" sz="2200" dirty="0"/>
          </a:p>
        </p:txBody>
      </p:sp>
      <p:sp>
        <p:nvSpPr>
          <p:cNvPr id="12" name="Text 7"/>
          <p:cNvSpPr/>
          <p:nvPr/>
        </p:nvSpPr>
        <p:spPr>
          <a:xfrm>
            <a:off x="10528459" y="5136118"/>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Increasing viewer base and content libraries.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3716" y="197823"/>
            <a:ext cx="9462730" cy="520898"/>
          </a:xfrm>
          <a:prstGeom prst="rect">
            <a:avLst/>
          </a:prstGeom>
          <a:noFill/>
          <a:ln/>
        </p:spPr>
        <p:txBody>
          <a:bodyPr wrap="none" lIns="0" tIns="0" rIns="0" bIns="0" rtlCol="0" anchor="t"/>
          <a:lstStyle/>
          <a:p>
            <a:pPr marL="0" indent="0" algn="l">
              <a:lnSpc>
                <a:spcPts val="4100"/>
              </a:lnSpc>
              <a:buNone/>
            </a:pPr>
            <a:r>
              <a:rPr lang="en-US" sz="3250" b="1" dirty="0">
                <a:solidFill>
                  <a:srgbClr val="282824"/>
                </a:solidFill>
                <a:latin typeface="Lato Bold" pitchFamily="34" charset="0"/>
                <a:ea typeface="Lato Bold" pitchFamily="34" charset="-122"/>
                <a:cs typeface="Lato Bold" pitchFamily="34" charset="-120"/>
              </a:rPr>
              <a:t>Why Netflix? A Deep Dive into the Streaming Giant</a:t>
            </a:r>
            <a:endParaRPr lang="en-US" sz="3250" dirty="0"/>
          </a:p>
        </p:txBody>
      </p:sp>
      <p:sp>
        <p:nvSpPr>
          <p:cNvPr id="3" name="Text 1"/>
          <p:cNvSpPr/>
          <p:nvPr/>
        </p:nvSpPr>
        <p:spPr>
          <a:xfrm>
            <a:off x="575667" y="900190"/>
            <a:ext cx="13463826" cy="533400"/>
          </a:xfrm>
          <a:prstGeom prst="rect">
            <a:avLst/>
          </a:prstGeom>
          <a:noFill/>
          <a:ln/>
        </p:spPr>
        <p:txBody>
          <a:bodyPr wrap="square" lIns="0" tIns="0" rIns="0" bIns="0" rtlCol="0" anchor="t"/>
          <a:lstStyle/>
          <a:p>
            <a:pPr marL="0" indent="0" algn="l">
              <a:lnSpc>
                <a:spcPts val="2050"/>
              </a:lnSpc>
              <a:buNone/>
            </a:pPr>
            <a:r>
              <a:rPr lang="en-US" sz="2400" dirty="0">
                <a:solidFill>
                  <a:srgbClr val="4A4A45"/>
                </a:solidFill>
                <a:latin typeface="Lato" pitchFamily="34" charset="0"/>
                <a:ea typeface="Lato" pitchFamily="34" charset="-122"/>
                <a:cs typeface="Lato" pitchFamily="34" charset="-120"/>
              </a:rPr>
              <a:t>We chose Netflix for our analysis due to its unparalleled global presence and its role as a pioneer in the OTT landscape. Analysing its content strategy provides invaluable insights into consumer preferences and industry trends.</a:t>
            </a:r>
            <a:endParaRPr lang="en-US" sz="2400" dirty="0"/>
          </a:p>
        </p:txBody>
      </p:sp>
      <p:pic>
        <p:nvPicPr>
          <p:cNvPr id="4" name="Image 0" descr="preencoded.png"/>
          <p:cNvPicPr>
            <a:picLocks noChangeAspect="1"/>
          </p:cNvPicPr>
          <p:nvPr/>
        </p:nvPicPr>
        <p:blipFill>
          <a:blip r:embed="rId3"/>
          <a:stretch>
            <a:fillRect/>
          </a:stretch>
        </p:blipFill>
        <p:spPr>
          <a:xfrm>
            <a:off x="575667" y="1924814"/>
            <a:ext cx="6059309" cy="6059309"/>
          </a:xfrm>
          <a:prstGeom prst="rect">
            <a:avLst/>
          </a:prstGeom>
        </p:spPr>
      </p:pic>
      <p:sp>
        <p:nvSpPr>
          <p:cNvPr id="5" name="Text 2"/>
          <p:cNvSpPr/>
          <p:nvPr/>
        </p:nvSpPr>
        <p:spPr>
          <a:xfrm>
            <a:off x="7689131" y="2283754"/>
            <a:ext cx="6691745" cy="880382"/>
          </a:xfrm>
          <a:prstGeom prst="rect">
            <a:avLst/>
          </a:prstGeom>
          <a:noFill/>
          <a:ln/>
        </p:spPr>
        <p:txBody>
          <a:bodyPr wrap="none" lIns="0" tIns="0" rIns="0" bIns="0" rtlCol="0" anchor="t"/>
          <a:lstStyle/>
          <a:p>
            <a:pPr marL="342900" indent="-342900" algn="l">
              <a:lnSpc>
                <a:spcPts val="2050"/>
              </a:lnSpc>
              <a:buSzPct val="100000"/>
              <a:buChar char="•"/>
            </a:pPr>
            <a:r>
              <a:rPr lang="en-US" sz="2400" b="1" dirty="0">
                <a:solidFill>
                  <a:srgbClr val="4A4A45"/>
                </a:solidFill>
                <a:latin typeface="Lato" pitchFamily="34" charset="0"/>
                <a:ea typeface="Lato" pitchFamily="34" charset="-122"/>
                <a:cs typeface="Lato" pitchFamily="34" charset="-120"/>
              </a:rPr>
              <a:t>Market Leader:</a:t>
            </a:r>
            <a:r>
              <a:rPr lang="en-US" sz="2400" dirty="0">
                <a:solidFill>
                  <a:srgbClr val="4A4A45"/>
                </a:solidFill>
                <a:latin typeface="Lato" pitchFamily="34" charset="0"/>
                <a:ea typeface="Lato" pitchFamily="34" charset="-122"/>
                <a:cs typeface="Lato" pitchFamily="34" charset="-120"/>
              </a:rPr>
              <a:t> Dominant player in the global </a:t>
            </a:r>
          </a:p>
          <a:p>
            <a:pPr marL="342900" indent="-342900" algn="l">
              <a:lnSpc>
                <a:spcPts val="2050"/>
              </a:lnSpc>
              <a:buSzPct val="100000"/>
              <a:buChar char="•"/>
            </a:pPr>
            <a:endParaRPr lang="en-US" sz="2400" dirty="0">
              <a:solidFill>
                <a:srgbClr val="4A4A45"/>
              </a:solidFill>
              <a:latin typeface="Lato" pitchFamily="34" charset="0"/>
              <a:ea typeface="Lato" pitchFamily="34" charset="-122"/>
              <a:cs typeface="Lato" pitchFamily="34" charset="-120"/>
            </a:endParaRPr>
          </a:p>
          <a:p>
            <a:pPr algn="l">
              <a:lnSpc>
                <a:spcPts val="2050"/>
              </a:lnSpc>
              <a:buSzPct val="100000"/>
            </a:pPr>
            <a:r>
              <a:rPr lang="en-US" sz="2400" dirty="0">
                <a:solidFill>
                  <a:srgbClr val="4A4A45"/>
                </a:solidFill>
                <a:latin typeface="Lato" pitchFamily="34" charset="0"/>
                <a:ea typeface="Lato" pitchFamily="34" charset="-122"/>
                <a:cs typeface="Lato" pitchFamily="34" charset="-120"/>
              </a:rPr>
              <a:t>streaming market.</a:t>
            </a:r>
            <a:endParaRPr lang="en-US" sz="2400" dirty="0"/>
          </a:p>
        </p:txBody>
      </p:sp>
      <p:sp>
        <p:nvSpPr>
          <p:cNvPr id="6" name="Text 3"/>
          <p:cNvSpPr/>
          <p:nvPr/>
        </p:nvSpPr>
        <p:spPr>
          <a:xfrm>
            <a:off x="7737933" y="3616174"/>
            <a:ext cx="6691745" cy="880382"/>
          </a:xfrm>
          <a:prstGeom prst="rect">
            <a:avLst/>
          </a:prstGeom>
          <a:noFill/>
          <a:ln/>
        </p:spPr>
        <p:txBody>
          <a:bodyPr wrap="none" lIns="0" tIns="0" rIns="0" bIns="0" rtlCol="0" anchor="t"/>
          <a:lstStyle/>
          <a:p>
            <a:pPr marL="342900" indent="-342900" algn="l">
              <a:lnSpc>
                <a:spcPts val="2050"/>
              </a:lnSpc>
              <a:buSzPct val="100000"/>
              <a:buChar char="•"/>
            </a:pPr>
            <a:r>
              <a:rPr lang="en-US" sz="2400" b="1" dirty="0">
                <a:solidFill>
                  <a:srgbClr val="4A4A45"/>
                </a:solidFill>
                <a:latin typeface="Lato" pitchFamily="34" charset="0"/>
                <a:ea typeface="Lato" pitchFamily="34" charset="-122"/>
                <a:cs typeface="Lato" pitchFamily="34" charset="-120"/>
              </a:rPr>
              <a:t>Content</a:t>
            </a:r>
            <a:r>
              <a:rPr lang="en-US" sz="1300" b="1" dirty="0">
                <a:solidFill>
                  <a:srgbClr val="4A4A45"/>
                </a:solidFill>
                <a:latin typeface="Lato" pitchFamily="34" charset="0"/>
                <a:ea typeface="Lato" pitchFamily="34" charset="-122"/>
                <a:cs typeface="Lato" pitchFamily="34" charset="-120"/>
              </a:rPr>
              <a:t> </a:t>
            </a:r>
            <a:r>
              <a:rPr lang="en-US" sz="2400" b="1" dirty="0">
                <a:solidFill>
                  <a:srgbClr val="4A4A45"/>
                </a:solidFill>
                <a:latin typeface="Lato" pitchFamily="34" charset="0"/>
                <a:ea typeface="Lato" pitchFamily="34" charset="-122"/>
                <a:cs typeface="Lato" pitchFamily="34" charset="-120"/>
              </a:rPr>
              <a:t>Diversity:</a:t>
            </a:r>
            <a:r>
              <a:rPr lang="en-US" sz="2400" dirty="0">
                <a:solidFill>
                  <a:srgbClr val="4A4A45"/>
                </a:solidFill>
                <a:latin typeface="Lato" pitchFamily="34" charset="0"/>
                <a:ea typeface="Lato" pitchFamily="34" charset="-122"/>
                <a:cs typeface="Lato" pitchFamily="34" charset="-120"/>
              </a:rPr>
              <a:t> Vast library with original</a:t>
            </a:r>
          </a:p>
          <a:p>
            <a:pPr marL="342900" indent="-342900" algn="l">
              <a:lnSpc>
                <a:spcPts val="2050"/>
              </a:lnSpc>
              <a:buSzPct val="100000"/>
              <a:buChar char="•"/>
            </a:pPr>
            <a:endParaRPr lang="en-US" sz="2400" dirty="0">
              <a:solidFill>
                <a:srgbClr val="4A4A45"/>
              </a:solidFill>
              <a:latin typeface="Lato" pitchFamily="34" charset="0"/>
              <a:ea typeface="Lato" pitchFamily="34" charset="-122"/>
              <a:cs typeface="Lato" pitchFamily="34" charset="-120"/>
            </a:endParaRPr>
          </a:p>
          <a:p>
            <a:pPr algn="l">
              <a:lnSpc>
                <a:spcPts val="2050"/>
              </a:lnSpc>
              <a:buSzPct val="100000"/>
            </a:pPr>
            <a:r>
              <a:rPr lang="en-US" sz="2400" dirty="0">
                <a:solidFill>
                  <a:srgbClr val="4A4A45"/>
                </a:solidFill>
                <a:latin typeface="Lato" pitchFamily="34" charset="0"/>
                <a:ea typeface="Lato" pitchFamily="34" charset="-122"/>
                <a:cs typeface="Lato" pitchFamily="34" charset="-120"/>
              </a:rPr>
              <a:t> productions and licensed titles.</a:t>
            </a:r>
            <a:endParaRPr lang="en-US" sz="2400" dirty="0"/>
          </a:p>
        </p:txBody>
      </p:sp>
      <p:sp>
        <p:nvSpPr>
          <p:cNvPr id="7" name="Text 4"/>
          <p:cNvSpPr/>
          <p:nvPr/>
        </p:nvSpPr>
        <p:spPr>
          <a:xfrm>
            <a:off x="7689132" y="4906529"/>
            <a:ext cx="6691745" cy="880383"/>
          </a:xfrm>
          <a:prstGeom prst="rect">
            <a:avLst/>
          </a:prstGeom>
          <a:noFill/>
          <a:ln/>
        </p:spPr>
        <p:txBody>
          <a:bodyPr wrap="none" lIns="0" tIns="0" rIns="0" bIns="0" rtlCol="0" anchor="t"/>
          <a:lstStyle/>
          <a:p>
            <a:pPr marL="342900" indent="-342900" algn="l">
              <a:lnSpc>
                <a:spcPts val="2050"/>
              </a:lnSpc>
              <a:buSzPct val="100000"/>
              <a:buChar char="•"/>
            </a:pPr>
            <a:r>
              <a:rPr lang="en-US" sz="2400" b="1" dirty="0">
                <a:solidFill>
                  <a:srgbClr val="4A4A45"/>
                </a:solidFill>
                <a:latin typeface="Lato" pitchFamily="34" charset="0"/>
                <a:ea typeface="Lato" pitchFamily="34" charset="-122"/>
                <a:cs typeface="Lato" pitchFamily="34" charset="-120"/>
              </a:rPr>
              <a:t>Global Impact:</a:t>
            </a:r>
            <a:r>
              <a:rPr lang="en-US" sz="2400" dirty="0">
                <a:solidFill>
                  <a:srgbClr val="4A4A45"/>
                </a:solidFill>
                <a:latin typeface="Lato" pitchFamily="34" charset="0"/>
                <a:ea typeface="Lato" pitchFamily="34" charset="-122"/>
                <a:cs typeface="Lato" pitchFamily="34" charset="-120"/>
              </a:rPr>
              <a:t> Influences content creation</a:t>
            </a:r>
          </a:p>
          <a:p>
            <a:pPr marL="342900" indent="-342900" algn="l">
              <a:lnSpc>
                <a:spcPts val="2050"/>
              </a:lnSpc>
              <a:buSzPct val="100000"/>
              <a:buChar char="•"/>
            </a:pPr>
            <a:endParaRPr lang="en-US" sz="2400" dirty="0">
              <a:solidFill>
                <a:srgbClr val="4A4A45"/>
              </a:solidFill>
              <a:latin typeface="Lato" pitchFamily="34" charset="0"/>
              <a:ea typeface="Lato" pitchFamily="34" charset="-122"/>
              <a:cs typeface="Lato" pitchFamily="34" charset="-120"/>
            </a:endParaRPr>
          </a:p>
          <a:p>
            <a:pPr algn="l">
              <a:lnSpc>
                <a:spcPts val="2050"/>
              </a:lnSpc>
              <a:buSzPct val="100000"/>
            </a:pPr>
            <a:r>
              <a:rPr lang="en-US" sz="2400" dirty="0">
                <a:solidFill>
                  <a:srgbClr val="4A4A45"/>
                </a:solidFill>
                <a:latin typeface="Lato" pitchFamily="34" charset="0"/>
                <a:ea typeface="Lato" pitchFamily="34" charset="-122"/>
                <a:cs typeface="Lato" pitchFamily="34" charset="-120"/>
              </a:rPr>
              <a:t> and consumption worldwide.</a:t>
            </a:r>
            <a:endParaRPr lang="en-US" sz="2400" dirty="0"/>
          </a:p>
        </p:txBody>
      </p:sp>
      <p:sp>
        <p:nvSpPr>
          <p:cNvPr id="8" name="Text 5"/>
          <p:cNvSpPr/>
          <p:nvPr/>
        </p:nvSpPr>
        <p:spPr>
          <a:xfrm>
            <a:off x="7737933" y="6637076"/>
            <a:ext cx="6892467" cy="990358"/>
          </a:xfrm>
          <a:prstGeom prst="rect">
            <a:avLst/>
          </a:prstGeom>
          <a:noFill/>
          <a:ln/>
        </p:spPr>
        <p:txBody>
          <a:bodyPr wrap="none" lIns="0" tIns="0" rIns="0" bIns="0" rtlCol="0" anchor="t"/>
          <a:lstStyle/>
          <a:p>
            <a:pPr marL="342900" indent="-342900" algn="l">
              <a:lnSpc>
                <a:spcPts val="2050"/>
              </a:lnSpc>
              <a:buSzPct val="100000"/>
              <a:buChar char="•"/>
            </a:pPr>
            <a:r>
              <a:rPr lang="en-US" sz="2400" b="1" dirty="0">
                <a:solidFill>
                  <a:srgbClr val="4A4A45"/>
                </a:solidFill>
                <a:latin typeface="Lato" pitchFamily="34" charset="0"/>
                <a:ea typeface="Lato" pitchFamily="34" charset="-122"/>
                <a:cs typeface="Lato" pitchFamily="34" charset="-120"/>
              </a:rPr>
              <a:t>Data-Rich Platform: </a:t>
            </a:r>
            <a:r>
              <a:rPr lang="en-US" sz="2400" dirty="0">
                <a:solidFill>
                  <a:srgbClr val="4A4A45"/>
                </a:solidFill>
                <a:latin typeface="Lato" pitchFamily="34" charset="0"/>
                <a:ea typeface="Lato" pitchFamily="34" charset="-122"/>
                <a:cs typeface="Lato" pitchFamily="34" charset="-120"/>
              </a:rPr>
              <a:t> Ideal for understanding</a:t>
            </a:r>
          </a:p>
          <a:p>
            <a:pPr marL="342900" indent="-342900" algn="l">
              <a:lnSpc>
                <a:spcPts val="2050"/>
              </a:lnSpc>
              <a:buSzPct val="100000"/>
              <a:buChar char="•"/>
            </a:pPr>
            <a:endParaRPr lang="en-US" sz="2400" dirty="0">
              <a:solidFill>
                <a:srgbClr val="4A4A45"/>
              </a:solidFill>
              <a:latin typeface="Lato" pitchFamily="34" charset="0"/>
              <a:ea typeface="Lato" pitchFamily="34" charset="-122"/>
              <a:cs typeface="Lato" pitchFamily="34" charset="-120"/>
            </a:endParaRPr>
          </a:p>
          <a:p>
            <a:pPr algn="l">
              <a:lnSpc>
                <a:spcPts val="2050"/>
              </a:lnSpc>
              <a:buSzPct val="100000"/>
            </a:pPr>
            <a:r>
              <a:rPr lang="en-US" sz="2400" dirty="0">
                <a:solidFill>
                  <a:srgbClr val="4A4A45"/>
                </a:solidFill>
                <a:latin typeface="Lato" pitchFamily="34" charset="0"/>
                <a:ea typeface="Lato" pitchFamily="34" charset="-122"/>
                <a:cs typeface="Lato" pitchFamily="34" charset="-120"/>
              </a:rPr>
              <a:t> viewing patterns</a:t>
            </a:r>
            <a:r>
              <a:rPr lang="en-US" sz="1300" dirty="0">
                <a:solidFill>
                  <a:srgbClr val="4A4A45"/>
                </a:solidFill>
                <a:latin typeface="Lato" pitchFamily="34" charset="0"/>
                <a:ea typeface="Lato" pitchFamily="34" charset="-122"/>
                <a:cs typeface="Lato" pitchFamily="34" charset="-120"/>
              </a:rPr>
              <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670" y="270526"/>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Project Objectives: Unlocking Netflix's Content Strategy</a:t>
            </a:r>
            <a:endParaRPr lang="en-US" sz="4450" dirty="0"/>
          </a:p>
        </p:txBody>
      </p:sp>
      <p:sp>
        <p:nvSpPr>
          <p:cNvPr id="3" name="Text 1"/>
          <p:cNvSpPr/>
          <p:nvPr/>
        </p:nvSpPr>
        <p:spPr>
          <a:xfrm>
            <a:off x="636526" y="2275939"/>
            <a:ext cx="13357108" cy="765811"/>
          </a:xfrm>
          <a:prstGeom prst="rect">
            <a:avLst/>
          </a:prstGeom>
          <a:noFill/>
          <a:ln/>
        </p:spPr>
        <p:txBody>
          <a:bodyPr wrap="none" lIns="0" tIns="0" rIns="0" bIns="0" rtlCol="0" anchor="t"/>
          <a:lstStyle/>
          <a:p>
            <a:pPr marL="0" indent="0" algn="l">
              <a:lnSpc>
                <a:spcPts val="2850"/>
              </a:lnSpc>
              <a:buNone/>
            </a:pPr>
            <a:r>
              <a:rPr lang="en-US" sz="2400" dirty="0">
                <a:solidFill>
                  <a:srgbClr val="4A4A45"/>
                </a:solidFill>
                <a:latin typeface="Lato" pitchFamily="34" charset="0"/>
                <a:ea typeface="Lato" pitchFamily="34" charset="-122"/>
                <a:cs typeface="Lato" pitchFamily="34" charset="-120"/>
              </a:rPr>
              <a:t>Our project aimed to dissect Netflix's content, focusing on several key areas to understand its</a:t>
            </a:r>
          </a:p>
          <a:p>
            <a:pPr marL="0" indent="0" algn="l">
              <a:lnSpc>
                <a:spcPts val="2850"/>
              </a:lnSpc>
              <a:buNone/>
            </a:pPr>
            <a:r>
              <a:rPr lang="en-US" sz="2400" dirty="0">
                <a:solidFill>
                  <a:srgbClr val="4A4A45"/>
                </a:solidFill>
                <a:latin typeface="Lato" pitchFamily="34" charset="0"/>
                <a:ea typeface="Lato" pitchFamily="34" charset="-122"/>
                <a:cs typeface="Lato" pitchFamily="34" charset="-120"/>
              </a:rPr>
              <a:t> offerings and strategic direction.</a:t>
            </a:r>
            <a:endParaRPr lang="en-US" sz="2400" dirty="0"/>
          </a:p>
        </p:txBody>
      </p:sp>
      <p:sp>
        <p:nvSpPr>
          <p:cNvPr id="4" name="Text 2"/>
          <p:cNvSpPr/>
          <p:nvPr/>
        </p:nvSpPr>
        <p:spPr>
          <a:xfrm>
            <a:off x="793790" y="351186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01</a:t>
            </a:r>
            <a:endParaRPr lang="en-US" sz="1750" dirty="0"/>
          </a:p>
        </p:txBody>
      </p:sp>
      <p:sp>
        <p:nvSpPr>
          <p:cNvPr id="5" name="Shape 3"/>
          <p:cNvSpPr/>
          <p:nvPr/>
        </p:nvSpPr>
        <p:spPr>
          <a:xfrm>
            <a:off x="793790" y="3866912"/>
            <a:ext cx="4196358" cy="30480"/>
          </a:xfrm>
          <a:prstGeom prst="rect">
            <a:avLst/>
          </a:prstGeom>
          <a:solidFill>
            <a:srgbClr val="282824"/>
          </a:solidFill>
          <a:ln/>
        </p:spPr>
      </p:sp>
      <p:sp>
        <p:nvSpPr>
          <p:cNvPr id="6" name="Text 4"/>
          <p:cNvSpPr/>
          <p:nvPr/>
        </p:nvSpPr>
        <p:spPr>
          <a:xfrm>
            <a:off x="793790" y="4041219"/>
            <a:ext cx="3380423"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Content Diversity Analysis</a:t>
            </a:r>
            <a:endParaRPr lang="en-US" sz="2200" dirty="0"/>
          </a:p>
        </p:txBody>
      </p:sp>
      <p:sp>
        <p:nvSpPr>
          <p:cNvPr id="7" name="Text 5"/>
          <p:cNvSpPr/>
          <p:nvPr/>
        </p:nvSpPr>
        <p:spPr>
          <a:xfrm>
            <a:off x="793790" y="4531638"/>
            <a:ext cx="4196358"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Evaluate the range of genres and formats.</a:t>
            </a:r>
            <a:endParaRPr lang="en-US" sz="1750" dirty="0"/>
          </a:p>
        </p:txBody>
      </p:sp>
      <p:sp>
        <p:nvSpPr>
          <p:cNvPr id="8" name="Text 6"/>
          <p:cNvSpPr/>
          <p:nvPr/>
        </p:nvSpPr>
        <p:spPr>
          <a:xfrm>
            <a:off x="5216962" y="351186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02</a:t>
            </a:r>
            <a:endParaRPr lang="en-US" sz="1750" dirty="0"/>
          </a:p>
        </p:txBody>
      </p:sp>
      <p:sp>
        <p:nvSpPr>
          <p:cNvPr id="9" name="Shape 7"/>
          <p:cNvSpPr/>
          <p:nvPr/>
        </p:nvSpPr>
        <p:spPr>
          <a:xfrm>
            <a:off x="5216962" y="3866912"/>
            <a:ext cx="4196358" cy="30480"/>
          </a:xfrm>
          <a:prstGeom prst="rect">
            <a:avLst/>
          </a:prstGeom>
          <a:solidFill>
            <a:srgbClr val="282824"/>
          </a:solidFill>
          <a:ln/>
        </p:spPr>
      </p:sp>
      <p:sp>
        <p:nvSpPr>
          <p:cNvPr id="10" name="Text 8"/>
          <p:cNvSpPr/>
          <p:nvPr/>
        </p:nvSpPr>
        <p:spPr>
          <a:xfrm>
            <a:off x="5216962" y="4041219"/>
            <a:ext cx="3945731"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Genre Popularity Identification</a:t>
            </a:r>
            <a:endParaRPr lang="en-US" sz="2200" dirty="0"/>
          </a:p>
        </p:txBody>
      </p:sp>
      <p:sp>
        <p:nvSpPr>
          <p:cNvPr id="11" name="Text 9"/>
          <p:cNvSpPr/>
          <p:nvPr/>
        </p:nvSpPr>
        <p:spPr>
          <a:xfrm>
            <a:off x="5216962" y="4531638"/>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Determine the most prevalent and watched genres.</a:t>
            </a:r>
            <a:endParaRPr lang="en-US" sz="1750" dirty="0"/>
          </a:p>
        </p:txBody>
      </p:sp>
      <p:sp>
        <p:nvSpPr>
          <p:cNvPr id="12" name="Text 10"/>
          <p:cNvSpPr/>
          <p:nvPr/>
        </p:nvSpPr>
        <p:spPr>
          <a:xfrm>
            <a:off x="9640133" y="351186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03</a:t>
            </a:r>
            <a:endParaRPr lang="en-US" sz="1750" dirty="0"/>
          </a:p>
        </p:txBody>
      </p:sp>
      <p:sp>
        <p:nvSpPr>
          <p:cNvPr id="13" name="Shape 11"/>
          <p:cNvSpPr/>
          <p:nvPr/>
        </p:nvSpPr>
        <p:spPr>
          <a:xfrm>
            <a:off x="9640133" y="3866912"/>
            <a:ext cx="4196358" cy="30480"/>
          </a:xfrm>
          <a:prstGeom prst="rect">
            <a:avLst/>
          </a:prstGeom>
          <a:solidFill>
            <a:srgbClr val="282824"/>
          </a:solidFill>
          <a:ln/>
        </p:spPr>
      </p:sp>
      <p:sp>
        <p:nvSpPr>
          <p:cNvPr id="14" name="Text 12"/>
          <p:cNvSpPr/>
          <p:nvPr/>
        </p:nvSpPr>
        <p:spPr>
          <a:xfrm>
            <a:off x="9640133" y="4041219"/>
            <a:ext cx="3475434"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Ratings Distribution Insight</a:t>
            </a:r>
            <a:endParaRPr lang="en-US" sz="2200" dirty="0"/>
          </a:p>
        </p:txBody>
      </p:sp>
      <p:sp>
        <p:nvSpPr>
          <p:cNvPr id="15" name="Text 13"/>
          <p:cNvSpPr/>
          <p:nvPr/>
        </p:nvSpPr>
        <p:spPr>
          <a:xfrm>
            <a:off x="9640133" y="4531638"/>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Understand content suitability across audiences.</a:t>
            </a:r>
            <a:endParaRPr lang="en-US" sz="1750" dirty="0"/>
          </a:p>
        </p:txBody>
      </p:sp>
      <p:sp>
        <p:nvSpPr>
          <p:cNvPr id="16" name="Text 14"/>
          <p:cNvSpPr/>
          <p:nvPr/>
        </p:nvSpPr>
        <p:spPr>
          <a:xfrm>
            <a:off x="793790" y="565427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04</a:t>
            </a:r>
            <a:endParaRPr lang="en-US" sz="1750" dirty="0"/>
          </a:p>
        </p:txBody>
      </p:sp>
      <p:sp>
        <p:nvSpPr>
          <p:cNvPr id="17" name="Shape 15"/>
          <p:cNvSpPr/>
          <p:nvPr/>
        </p:nvSpPr>
        <p:spPr>
          <a:xfrm>
            <a:off x="793790" y="6009322"/>
            <a:ext cx="6407944" cy="30480"/>
          </a:xfrm>
          <a:prstGeom prst="rect">
            <a:avLst/>
          </a:prstGeom>
          <a:solidFill>
            <a:srgbClr val="282824"/>
          </a:solidFill>
          <a:ln/>
        </p:spPr>
      </p:sp>
      <p:sp>
        <p:nvSpPr>
          <p:cNvPr id="18" name="Text 16"/>
          <p:cNvSpPr/>
          <p:nvPr/>
        </p:nvSpPr>
        <p:spPr>
          <a:xfrm>
            <a:off x="793790" y="6183630"/>
            <a:ext cx="4313753"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Country Contribution Assessment</a:t>
            </a:r>
            <a:endParaRPr lang="en-US" sz="2200" dirty="0"/>
          </a:p>
        </p:txBody>
      </p:sp>
      <p:sp>
        <p:nvSpPr>
          <p:cNvPr id="19" name="Text 17"/>
          <p:cNvSpPr/>
          <p:nvPr/>
        </p:nvSpPr>
        <p:spPr>
          <a:xfrm>
            <a:off x="793790" y="667404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Identify key content-producing regions.</a:t>
            </a:r>
            <a:endParaRPr lang="en-US" sz="1750" dirty="0"/>
          </a:p>
        </p:txBody>
      </p:sp>
      <p:sp>
        <p:nvSpPr>
          <p:cNvPr id="20" name="Text 18"/>
          <p:cNvSpPr/>
          <p:nvPr/>
        </p:nvSpPr>
        <p:spPr>
          <a:xfrm>
            <a:off x="7428548" y="565427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05</a:t>
            </a:r>
            <a:endParaRPr lang="en-US" sz="1750" dirty="0"/>
          </a:p>
        </p:txBody>
      </p:sp>
      <p:sp>
        <p:nvSpPr>
          <p:cNvPr id="21" name="Shape 19"/>
          <p:cNvSpPr/>
          <p:nvPr/>
        </p:nvSpPr>
        <p:spPr>
          <a:xfrm>
            <a:off x="7428548" y="6009322"/>
            <a:ext cx="6407944" cy="30480"/>
          </a:xfrm>
          <a:prstGeom prst="rect">
            <a:avLst/>
          </a:prstGeom>
          <a:solidFill>
            <a:srgbClr val="282824"/>
          </a:solidFill>
          <a:ln/>
        </p:spPr>
      </p:sp>
      <p:sp>
        <p:nvSpPr>
          <p:cNvPr id="22" name="Text 20"/>
          <p:cNvSpPr/>
          <p:nvPr/>
        </p:nvSpPr>
        <p:spPr>
          <a:xfrm>
            <a:off x="7428548" y="6183630"/>
            <a:ext cx="3212902"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Year-Wise Content Trend</a:t>
            </a:r>
            <a:endParaRPr lang="en-US" sz="2200" dirty="0"/>
          </a:p>
        </p:txBody>
      </p:sp>
      <p:sp>
        <p:nvSpPr>
          <p:cNvPr id="23" name="Text 21"/>
          <p:cNvSpPr/>
          <p:nvPr/>
        </p:nvSpPr>
        <p:spPr>
          <a:xfrm>
            <a:off x="7428548" y="667404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Analyse historical content addition patterns.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0197" y="210443"/>
            <a:ext cx="9967317" cy="553760"/>
          </a:xfrm>
          <a:prstGeom prst="rect">
            <a:avLst/>
          </a:prstGeom>
          <a:noFill/>
          <a:ln/>
        </p:spPr>
        <p:txBody>
          <a:bodyPr wrap="none" lIns="0" tIns="0" rIns="0" bIns="0" rtlCol="0" anchor="t"/>
          <a:lstStyle/>
          <a:p>
            <a:pPr marL="0" indent="0" algn="l">
              <a:lnSpc>
                <a:spcPts val="4350"/>
              </a:lnSpc>
              <a:buNone/>
            </a:pPr>
            <a:r>
              <a:rPr lang="en-US" sz="3450" b="1" dirty="0">
                <a:solidFill>
                  <a:srgbClr val="282824"/>
                </a:solidFill>
                <a:latin typeface="Lato Bold" pitchFamily="34" charset="0"/>
                <a:ea typeface="Lato Bold" pitchFamily="34" charset="-122"/>
                <a:cs typeface="Lato Bold" pitchFamily="34" charset="-120"/>
              </a:rPr>
              <a:t>Dataset Overview: A Glimpse into Netflix's Library</a:t>
            </a:r>
            <a:endParaRPr lang="en-US" sz="3450" dirty="0"/>
          </a:p>
        </p:txBody>
      </p:sp>
      <p:sp>
        <p:nvSpPr>
          <p:cNvPr id="3" name="Text 1"/>
          <p:cNvSpPr/>
          <p:nvPr/>
        </p:nvSpPr>
        <p:spPr>
          <a:xfrm>
            <a:off x="129543" y="963513"/>
            <a:ext cx="14010203" cy="553760"/>
          </a:xfrm>
          <a:prstGeom prst="rect">
            <a:avLst/>
          </a:prstGeom>
          <a:noFill/>
          <a:ln/>
        </p:spPr>
        <p:txBody>
          <a:bodyPr wrap="none" lIns="0" tIns="0" rIns="0" bIns="0" rtlCol="0" anchor="t"/>
          <a:lstStyle/>
          <a:p>
            <a:pPr marL="0" indent="0" algn="l">
              <a:lnSpc>
                <a:spcPts val="2200"/>
              </a:lnSpc>
              <a:buNone/>
            </a:pPr>
            <a:r>
              <a:rPr lang="en-US" sz="2000" dirty="0">
                <a:solidFill>
                  <a:srgbClr val="4A4A45"/>
                </a:solidFill>
                <a:latin typeface="Lato" pitchFamily="34" charset="0"/>
                <a:ea typeface="Lato" pitchFamily="34" charset="-122"/>
                <a:cs typeface="Lato" pitchFamily="34" charset="-120"/>
              </a:rPr>
              <a:t>Our analysis was based on a comprehensive dataset of Netflix titles, revealing a significant imbalance between movies and </a:t>
            </a:r>
          </a:p>
          <a:p>
            <a:pPr marL="0" indent="0" algn="l">
              <a:lnSpc>
                <a:spcPts val="2200"/>
              </a:lnSpc>
              <a:buNone/>
            </a:pPr>
            <a:r>
              <a:rPr lang="en-US" sz="2000" dirty="0">
                <a:solidFill>
                  <a:srgbClr val="4A4A45"/>
                </a:solidFill>
                <a:latin typeface="Lato" pitchFamily="34" charset="0"/>
                <a:ea typeface="Lato" pitchFamily="34" charset="-122"/>
                <a:cs typeface="Lato" pitchFamily="34" charset="-120"/>
              </a:rPr>
              <a:t>TV shows</a:t>
            </a:r>
            <a:r>
              <a:rPr lang="en-US" sz="1350" dirty="0">
                <a:solidFill>
                  <a:srgbClr val="4A4A45"/>
                </a:solidFill>
                <a:latin typeface="Lato" pitchFamily="34" charset="0"/>
                <a:ea typeface="Lato" pitchFamily="34" charset="-122"/>
                <a:cs typeface="Lato" pitchFamily="34" charset="-120"/>
              </a:rPr>
              <a:t>.</a:t>
            </a:r>
            <a:endParaRPr lang="en-US" sz="1350" dirty="0"/>
          </a:p>
        </p:txBody>
      </p:sp>
      <p:pic>
        <p:nvPicPr>
          <p:cNvPr id="4" name="Image 0" descr="preencoded.png"/>
          <p:cNvPicPr>
            <a:picLocks noChangeAspect="1"/>
          </p:cNvPicPr>
          <p:nvPr/>
        </p:nvPicPr>
        <p:blipFill>
          <a:blip r:embed="rId3"/>
          <a:stretch>
            <a:fillRect/>
          </a:stretch>
        </p:blipFill>
        <p:spPr>
          <a:xfrm>
            <a:off x="475231" y="2891166"/>
            <a:ext cx="7860983" cy="4402098"/>
          </a:xfrm>
          <a:prstGeom prst="rect">
            <a:avLst/>
          </a:prstGeom>
        </p:spPr>
      </p:pic>
      <p:sp>
        <p:nvSpPr>
          <p:cNvPr id="5" name="Text 2"/>
          <p:cNvSpPr/>
          <p:nvPr/>
        </p:nvSpPr>
        <p:spPr>
          <a:xfrm>
            <a:off x="9099653" y="1517273"/>
            <a:ext cx="4928581" cy="1373893"/>
          </a:xfrm>
          <a:prstGeom prst="rect">
            <a:avLst/>
          </a:prstGeom>
          <a:noFill/>
          <a:ln/>
        </p:spPr>
        <p:txBody>
          <a:bodyPr wrap="square" lIns="0" tIns="0" rIns="0" bIns="0" rtlCol="0" anchor="t"/>
          <a:lstStyle/>
          <a:p>
            <a:pPr>
              <a:lnSpc>
                <a:spcPts val="2200"/>
              </a:lnSpc>
            </a:pPr>
            <a:r>
              <a:rPr lang="en-US" sz="1400" dirty="0"/>
              <a:t>“</a:t>
            </a:r>
            <a:r>
              <a:rPr lang="en-US" sz="2000" dirty="0"/>
              <a:t>A small sample dataset of Netflix titles was used to demonstrate Excel-based analysis.</a:t>
            </a:r>
            <a:br>
              <a:rPr lang="en-US" sz="2000" dirty="0"/>
            </a:br>
            <a:r>
              <a:rPr lang="en-US" sz="2000" dirty="0"/>
              <a:t>The dataset includes movies and TV shows with attributes such as genre, country, rating, and release year.”</a:t>
            </a:r>
          </a:p>
        </p:txBody>
      </p:sp>
      <p:pic>
        <p:nvPicPr>
          <p:cNvPr id="6" name="Image 1" descr="preencoded.png"/>
          <p:cNvPicPr>
            <a:picLocks noChangeAspect="1"/>
          </p:cNvPicPr>
          <p:nvPr/>
        </p:nvPicPr>
        <p:blipFill>
          <a:blip r:embed="rId4"/>
          <a:stretch>
            <a:fillRect/>
          </a:stretch>
        </p:blipFill>
        <p:spPr>
          <a:xfrm>
            <a:off x="9099653" y="3079425"/>
            <a:ext cx="4928581" cy="49285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11798" y="134429"/>
            <a:ext cx="6752392" cy="441246"/>
          </a:xfrm>
          <a:prstGeom prst="rect">
            <a:avLst/>
          </a:prstGeom>
          <a:noFill/>
          <a:ln/>
        </p:spPr>
        <p:txBody>
          <a:bodyPr wrap="none" lIns="0" tIns="0" rIns="0" bIns="0" rtlCol="0" anchor="t"/>
          <a:lstStyle/>
          <a:p>
            <a:pPr marL="0" indent="0" algn="l">
              <a:lnSpc>
                <a:spcPts val="3450"/>
              </a:lnSpc>
              <a:buNone/>
            </a:pPr>
            <a:r>
              <a:rPr lang="en-US" sz="2750" b="1" dirty="0">
                <a:solidFill>
                  <a:srgbClr val="282824"/>
                </a:solidFill>
                <a:latin typeface="Lato Bold" pitchFamily="34" charset="0"/>
                <a:ea typeface="Lato Bold" pitchFamily="34" charset="-122"/>
                <a:cs typeface="Lato Bold" pitchFamily="34" charset="-120"/>
              </a:rPr>
              <a:t>Genre Analysis: What's Popular on Netflix?</a:t>
            </a:r>
            <a:endParaRPr lang="en-US" sz="2750" dirty="0"/>
          </a:p>
        </p:txBody>
      </p:sp>
      <p:sp>
        <p:nvSpPr>
          <p:cNvPr id="3" name="Text 1"/>
          <p:cNvSpPr/>
          <p:nvPr/>
        </p:nvSpPr>
        <p:spPr>
          <a:xfrm>
            <a:off x="240032" y="741698"/>
            <a:ext cx="13990320" cy="706153"/>
          </a:xfrm>
          <a:prstGeom prst="rect">
            <a:avLst/>
          </a:prstGeom>
          <a:noFill/>
          <a:ln/>
        </p:spPr>
        <p:txBody>
          <a:bodyPr wrap="none" lIns="0" tIns="0" rIns="0" bIns="0" rtlCol="0" anchor="t"/>
          <a:lstStyle/>
          <a:p>
            <a:pPr marL="0" indent="0" algn="l">
              <a:lnSpc>
                <a:spcPts val="1750"/>
              </a:lnSpc>
              <a:buNone/>
            </a:pPr>
            <a:r>
              <a:rPr lang="en-US" sz="2400" dirty="0">
                <a:solidFill>
                  <a:srgbClr val="4A4A45"/>
                </a:solidFill>
                <a:latin typeface="Lato" pitchFamily="34" charset="0"/>
                <a:ea typeface="Lato" pitchFamily="34" charset="-122"/>
                <a:cs typeface="Lato" pitchFamily="34" charset="-120"/>
              </a:rPr>
              <a:t>Understanding genre distribution is crucial for content strategy. Our analysis highlights the dominance</a:t>
            </a:r>
          </a:p>
          <a:p>
            <a:pPr marL="0" indent="0" algn="l">
              <a:lnSpc>
                <a:spcPts val="1750"/>
              </a:lnSpc>
              <a:buNone/>
            </a:pPr>
            <a:endParaRPr lang="en-US" sz="2400" dirty="0">
              <a:solidFill>
                <a:srgbClr val="4A4A45"/>
              </a:solidFill>
              <a:latin typeface="Lato" pitchFamily="34" charset="0"/>
              <a:ea typeface="Lato" pitchFamily="34" charset="-122"/>
              <a:cs typeface="Lato" pitchFamily="34" charset="-120"/>
            </a:endParaRPr>
          </a:p>
          <a:p>
            <a:pPr marL="0" indent="0" algn="l">
              <a:lnSpc>
                <a:spcPts val="1750"/>
              </a:lnSpc>
              <a:buNone/>
            </a:pPr>
            <a:r>
              <a:rPr lang="en-US" sz="2400" dirty="0">
                <a:solidFill>
                  <a:srgbClr val="4A4A45"/>
                </a:solidFill>
                <a:latin typeface="Lato" pitchFamily="34" charset="0"/>
                <a:ea typeface="Lato" pitchFamily="34" charset="-122"/>
                <a:cs typeface="Lato" pitchFamily="34" charset="-120"/>
              </a:rPr>
              <a:t> of specific genres on Netflix.</a:t>
            </a:r>
            <a:endParaRPr lang="en-US" sz="2400" dirty="0"/>
          </a:p>
        </p:txBody>
      </p:sp>
      <p:sp>
        <p:nvSpPr>
          <p:cNvPr id="15" name="Text 12"/>
          <p:cNvSpPr/>
          <p:nvPr/>
        </p:nvSpPr>
        <p:spPr>
          <a:xfrm>
            <a:off x="8024951" y="1660946"/>
            <a:ext cx="6431830" cy="706154"/>
          </a:xfrm>
          <a:prstGeom prst="rect">
            <a:avLst/>
          </a:prstGeom>
          <a:noFill/>
          <a:ln/>
        </p:spPr>
        <p:txBody>
          <a:bodyPr wrap="square" lIns="0" tIns="0" rIns="0" bIns="0" rtlCol="0" anchor="t"/>
          <a:lstStyle/>
          <a:p>
            <a:pPr>
              <a:lnSpc>
                <a:spcPts val="1750"/>
              </a:lnSpc>
            </a:pPr>
            <a:r>
              <a:rPr lang="en-US" sz="1100" dirty="0"/>
              <a:t>“</a:t>
            </a:r>
            <a:r>
              <a:rPr lang="en-US" sz="2400" dirty="0"/>
              <a:t>In the sample dataset, Action is the most frequent</a:t>
            </a:r>
          </a:p>
          <a:p>
            <a:pPr>
              <a:lnSpc>
                <a:spcPts val="1750"/>
              </a:lnSpc>
            </a:pPr>
            <a:endParaRPr lang="en-US" sz="2400" dirty="0"/>
          </a:p>
          <a:p>
            <a:pPr>
              <a:lnSpc>
                <a:spcPts val="1750"/>
              </a:lnSpc>
            </a:pPr>
            <a:r>
              <a:rPr lang="en-US" sz="2400" dirty="0"/>
              <a:t> genre, followed by Crime, Drama, and Sci-Fi.”</a:t>
            </a:r>
          </a:p>
        </p:txBody>
      </p:sp>
      <p:pic>
        <p:nvPicPr>
          <p:cNvPr id="16" name="Image 1" descr="preencoded.png"/>
          <p:cNvPicPr>
            <a:picLocks noChangeAspect="1"/>
          </p:cNvPicPr>
          <p:nvPr/>
        </p:nvPicPr>
        <p:blipFill>
          <a:blip r:embed="rId3"/>
          <a:stretch>
            <a:fillRect/>
          </a:stretch>
        </p:blipFill>
        <p:spPr>
          <a:xfrm>
            <a:off x="8024950" y="2589096"/>
            <a:ext cx="5416730" cy="5416730"/>
          </a:xfrm>
          <a:prstGeom prst="rect">
            <a:avLst/>
          </a:prstGeom>
        </p:spPr>
      </p:pic>
      <p:sp>
        <p:nvSpPr>
          <p:cNvPr id="17" name="Text 13"/>
          <p:cNvSpPr/>
          <p:nvPr/>
        </p:nvSpPr>
        <p:spPr>
          <a:xfrm>
            <a:off x="7494984" y="9041844"/>
            <a:ext cx="6648926" cy="225862"/>
          </a:xfrm>
          <a:prstGeom prst="rect">
            <a:avLst/>
          </a:prstGeom>
          <a:noFill/>
          <a:ln/>
        </p:spPr>
        <p:txBody>
          <a:bodyPr wrap="none" lIns="0" tIns="0" rIns="0" bIns="0" rtlCol="0" anchor="t"/>
          <a:lstStyle/>
          <a:p>
            <a:pPr marL="0" indent="0" algn="l">
              <a:lnSpc>
                <a:spcPts val="1750"/>
              </a:lnSpc>
              <a:buNone/>
            </a:pPr>
            <a:r>
              <a:rPr lang="en-US" sz="1100" dirty="0">
                <a:solidFill>
                  <a:srgbClr val="4A4A45"/>
                </a:solidFill>
                <a:latin typeface="Lato" pitchFamily="34" charset="0"/>
                <a:ea typeface="Lato" pitchFamily="34" charset="-122"/>
                <a:cs typeface="Lato" pitchFamily="34" charset="-120"/>
              </a:rPr>
              <a:t>This data helps Netflix curate content that resonates with its broad audience base.</a:t>
            </a:r>
            <a:endParaRPr lang="en-US" sz="1100" dirty="0"/>
          </a:p>
        </p:txBody>
      </p:sp>
      <p:graphicFrame>
        <p:nvGraphicFramePr>
          <p:cNvPr id="18" name="Chart 17">
            <a:extLst>
              <a:ext uri="{FF2B5EF4-FFF2-40B4-BE49-F238E27FC236}">
                <a16:creationId xmlns:a16="http://schemas.microsoft.com/office/drawing/2014/main" id="{23BCFBC1-02A6-6CE3-2FD1-9D66C72E0924}"/>
              </a:ext>
            </a:extLst>
          </p:cNvPr>
          <p:cNvGraphicFramePr>
            <a:graphicFrameLocks/>
          </p:cNvGraphicFramePr>
          <p:nvPr>
            <p:extLst>
              <p:ext uri="{D42A27DB-BD31-4B8C-83A1-F6EECF244321}">
                <p14:modId xmlns:p14="http://schemas.microsoft.com/office/powerpoint/2010/main" val="3847199450"/>
              </p:ext>
            </p:extLst>
          </p:nvPr>
        </p:nvGraphicFramePr>
        <p:xfrm>
          <a:off x="311798" y="2367100"/>
          <a:ext cx="7328832" cy="555026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251" y="135785"/>
            <a:ext cx="7122676" cy="456843"/>
          </a:xfrm>
          <a:prstGeom prst="rect">
            <a:avLst/>
          </a:prstGeom>
          <a:noFill/>
          <a:ln/>
        </p:spPr>
        <p:txBody>
          <a:bodyPr wrap="none" lIns="0" tIns="0" rIns="0" bIns="0" rtlCol="0" anchor="t"/>
          <a:lstStyle/>
          <a:p>
            <a:pPr marL="0" indent="0" algn="l">
              <a:lnSpc>
                <a:spcPts val="3550"/>
              </a:lnSpc>
              <a:buNone/>
            </a:pPr>
            <a:r>
              <a:rPr lang="en-US" sz="2850" b="1" dirty="0">
                <a:solidFill>
                  <a:srgbClr val="282824"/>
                </a:solidFill>
                <a:latin typeface="Lato Bold" pitchFamily="34" charset="0"/>
                <a:ea typeface="Lato Bold" pitchFamily="34" charset="-122"/>
                <a:cs typeface="Lato Bold" pitchFamily="34" charset="-120"/>
              </a:rPr>
              <a:t>Country Contribution: Global Content Hubs</a:t>
            </a:r>
            <a:endParaRPr lang="en-US" sz="2850" dirty="0"/>
          </a:p>
        </p:txBody>
      </p:sp>
      <p:sp>
        <p:nvSpPr>
          <p:cNvPr id="3" name="Text 1"/>
          <p:cNvSpPr/>
          <p:nvPr/>
        </p:nvSpPr>
        <p:spPr>
          <a:xfrm>
            <a:off x="411251" y="917256"/>
            <a:ext cx="13607177" cy="233839"/>
          </a:xfrm>
          <a:prstGeom prst="rect">
            <a:avLst/>
          </a:prstGeom>
          <a:noFill/>
          <a:ln/>
        </p:spPr>
        <p:txBody>
          <a:bodyPr wrap="none" lIns="0" tIns="0" rIns="0" bIns="0" rtlCol="0" anchor="t"/>
          <a:lstStyle/>
          <a:p>
            <a:pPr>
              <a:lnSpc>
                <a:spcPts val="1800"/>
              </a:lnSpc>
            </a:pPr>
            <a:r>
              <a:rPr lang="en-US" sz="1200" dirty="0"/>
              <a:t>“</a:t>
            </a:r>
            <a:r>
              <a:rPr lang="en-US" sz="2800" dirty="0"/>
              <a:t>Most titles in the sample come from the United States, followed by India and Spain.”</a:t>
            </a:r>
            <a:r>
              <a:rPr lang="en-US" sz="2800" dirty="0">
                <a:solidFill>
                  <a:srgbClr val="4A4A45"/>
                </a:solidFill>
                <a:latin typeface="Lato" pitchFamily="34" charset="0"/>
                <a:ea typeface="Lato" pitchFamily="34" charset="-122"/>
                <a:cs typeface="Lato" pitchFamily="34" charset="-120"/>
              </a:rPr>
              <a:t>.</a:t>
            </a:r>
            <a:endParaRPr lang="en-US" sz="2800" dirty="0"/>
          </a:p>
        </p:txBody>
      </p:sp>
      <p:sp>
        <p:nvSpPr>
          <p:cNvPr id="5" name="Text 2"/>
          <p:cNvSpPr/>
          <p:nvPr/>
        </p:nvSpPr>
        <p:spPr>
          <a:xfrm>
            <a:off x="511612" y="9333786"/>
            <a:ext cx="13607177" cy="233839"/>
          </a:xfrm>
          <a:prstGeom prst="rect">
            <a:avLst/>
          </a:prstGeom>
          <a:noFill/>
          <a:ln/>
        </p:spPr>
        <p:txBody>
          <a:bodyPr wrap="none" lIns="0" tIns="0" rIns="0" bIns="0" rtlCol="0" anchor="t"/>
          <a:lstStyle/>
          <a:p>
            <a:pPr marL="0" indent="0" algn="l">
              <a:lnSpc>
                <a:spcPts val="1800"/>
              </a:lnSpc>
              <a:buNone/>
            </a:pPr>
            <a:r>
              <a:rPr lang="en-US" sz="1150" dirty="0">
                <a:solidFill>
                  <a:srgbClr val="4A4A45"/>
                </a:solidFill>
                <a:latin typeface="Lato" pitchFamily="34" charset="0"/>
                <a:ea typeface="Lato" pitchFamily="34" charset="-122"/>
                <a:cs typeface="Lato" pitchFamily="34" charset="-120"/>
              </a:rPr>
              <a:t>The United States leads in content production, followed by India and the UK, showcasing Netflix's investment in diverse regional content.</a:t>
            </a:r>
            <a:endParaRPr lang="en-US" sz="1150" dirty="0"/>
          </a:p>
        </p:txBody>
      </p:sp>
      <p:graphicFrame>
        <p:nvGraphicFramePr>
          <p:cNvPr id="6" name="Chart 5">
            <a:extLst>
              <a:ext uri="{FF2B5EF4-FFF2-40B4-BE49-F238E27FC236}">
                <a16:creationId xmlns:a16="http://schemas.microsoft.com/office/drawing/2014/main" id="{7296DC3F-E172-3F63-2C13-DFEBF18E8296}"/>
              </a:ext>
            </a:extLst>
          </p:cNvPr>
          <p:cNvGraphicFramePr>
            <a:graphicFrameLocks/>
          </p:cNvGraphicFramePr>
          <p:nvPr>
            <p:extLst>
              <p:ext uri="{D42A27DB-BD31-4B8C-83A1-F6EECF244321}">
                <p14:modId xmlns:p14="http://schemas.microsoft.com/office/powerpoint/2010/main" val="1613246143"/>
              </p:ext>
            </p:extLst>
          </p:nvPr>
        </p:nvGraphicFramePr>
        <p:xfrm>
          <a:off x="411251" y="1524484"/>
          <a:ext cx="13607177" cy="631897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0294" y="197283"/>
            <a:ext cx="6701314" cy="456843"/>
          </a:xfrm>
          <a:prstGeom prst="rect">
            <a:avLst/>
          </a:prstGeom>
          <a:noFill/>
          <a:ln/>
        </p:spPr>
        <p:txBody>
          <a:bodyPr wrap="none" lIns="0" tIns="0" rIns="0" bIns="0" rtlCol="0" anchor="t"/>
          <a:lstStyle/>
          <a:p>
            <a:pPr marL="0" indent="0" algn="l">
              <a:lnSpc>
                <a:spcPts val="3550"/>
              </a:lnSpc>
              <a:buNone/>
            </a:pPr>
            <a:r>
              <a:rPr lang="en-US" sz="2850" b="1" dirty="0">
                <a:solidFill>
                  <a:srgbClr val="282824"/>
                </a:solidFill>
                <a:latin typeface="Lato Bold" pitchFamily="34" charset="0"/>
                <a:ea typeface="Lato Bold" pitchFamily="34" charset="-122"/>
                <a:cs typeface="Lato Bold" pitchFamily="34" charset="-120"/>
              </a:rPr>
              <a:t>Year-Wise Trend: Netflix's Content Surge</a:t>
            </a:r>
            <a:endParaRPr lang="en-US" sz="2850" dirty="0"/>
          </a:p>
        </p:txBody>
      </p:sp>
      <p:sp>
        <p:nvSpPr>
          <p:cNvPr id="3" name="Text 1"/>
          <p:cNvSpPr/>
          <p:nvPr/>
        </p:nvSpPr>
        <p:spPr>
          <a:xfrm>
            <a:off x="266287" y="977987"/>
            <a:ext cx="13884612" cy="599645"/>
          </a:xfrm>
          <a:prstGeom prst="rect">
            <a:avLst/>
          </a:prstGeom>
          <a:noFill/>
          <a:ln/>
        </p:spPr>
        <p:txBody>
          <a:bodyPr wrap="none" lIns="0" tIns="0" rIns="0" bIns="0" rtlCol="0" anchor="t"/>
          <a:lstStyle/>
          <a:p>
            <a:pPr>
              <a:lnSpc>
                <a:spcPts val="1800"/>
              </a:lnSpc>
            </a:pPr>
            <a:r>
              <a:rPr lang="en-US" sz="2400" dirty="0"/>
              <a:t>“</a:t>
            </a:r>
            <a:r>
              <a:rPr lang="en-US" sz="2800" dirty="0"/>
              <a:t>The sample spans titles released between 2010 and 2022, showing a variety of release years.”</a:t>
            </a:r>
            <a:r>
              <a:rPr lang="en-US" sz="2800" dirty="0">
                <a:solidFill>
                  <a:srgbClr val="4A4A45"/>
                </a:solidFill>
                <a:latin typeface="Lato" pitchFamily="34" charset="0"/>
                <a:ea typeface="Lato" pitchFamily="34" charset="-122"/>
                <a:cs typeface="Lato" pitchFamily="34" charset="-120"/>
              </a:rPr>
              <a:t>.</a:t>
            </a:r>
            <a:endParaRPr lang="en-US" sz="2800" dirty="0"/>
          </a:p>
        </p:txBody>
      </p:sp>
      <p:sp>
        <p:nvSpPr>
          <p:cNvPr id="5" name="Text 2"/>
          <p:cNvSpPr/>
          <p:nvPr/>
        </p:nvSpPr>
        <p:spPr>
          <a:xfrm>
            <a:off x="511612" y="9333786"/>
            <a:ext cx="13607177" cy="233839"/>
          </a:xfrm>
          <a:prstGeom prst="rect">
            <a:avLst/>
          </a:prstGeom>
          <a:noFill/>
          <a:ln/>
        </p:spPr>
        <p:txBody>
          <a:bodyPr wrap="none" lIns="0" tIns="0" rIns="0" bIns="0" rtlCol="0" anchor="t"/>
          <a:lstStyle/>
          <a:p>
            <a:pPr marL="0" indent="0" algn="l">
              <a:lnSpc>
                <a:spcPts val="1800"/>
              </a:lnSpc>
              <a:buNone/>
            </a:pPr>
            <a:r>
              <a:rPr lang="en-US" sz="1150" dirty="0">
                <a:solidFill>
                  <a:srgbClr val="4A4A45"/>
                </a:solidFill>
                <a:latin typeface="Lato" pitchFamily="34" charset="0"/>
                <a:ea typeface="Lato" pitchFamily="34" charset="-122"/>
                <a:cs typeface="Lato" pitchFamily="34" charset="-120"/>
              </a:rPr>
              <a:t>There was a significant spike in content additions between 2018 and 2020, reflecting Netflix's aggressive expansion strategy during that period.</a:t>
            </a:r>
            <a:endParaRPr lang="en-US" sz="1150" dirty="0"/>
          </a:p>
        </p:txBody>
      </p:sp>
      <p:graphicFrame>
        <p:nvGraphicFramePr>
          <p:cNvPr id="6" name="Chart 5">
            <a:extLst>
              <a:ext uri="{FF2B5EF4-FFF2-40B4-BE49-F238E27FC236}">
                <a16:creationId xmlns:a16="http://schemas.microsoft.com/office/drawing/2014/main" id="{77AAE747-FBAA-D180-DD72-0A53C0A7DC96}"/>
              </a:ext>
            </a:extLst>
          </p:cNvPr>
          <p:cNvGraphicFramePr>
            <a:graphicFrameLocks/>
          </p:cNvGraphicFramePr>
          <p:nvPr>
            <p:extLst>
              <p:ext uri="{D42A27DB-BD31-4B8C-83A1-F6EECF244321}">
                <p14:modId xmlns:p14="http://schemas.microsoft.com/office/powerpoint/2010/main" val="4232746642"/>
              </p:ext>
            </p:extLst>
          </p:nvPr>
        </p:nvGraphicFramePr>
        <p:xfrm>
          <a:off x="390293" y="1683835"/>
          <a:ext cx="13728496" cy="601394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752EE58-50AF-1667-F1BB-3908767BD907}"/>
              </a:ext>
            </a:extLst>
          </p:cNvPr>
          <p:cNvGraphicFramePr>
            <a:graphicFrameLocks noGrp="1"/>
          </p:cNvGraphicFramePr>
          <p:nvPr>
            <p:extLst>
              <p:ext uri="{D42A27DB-BD31-4B8C-83A1-F6EECF244321}">
                <p14:modId xmlns:p14="http://schemas.microsoft.com/office/powerpoint/2010/main" val="645494079"/>
              </p:ext>
            </p:extLst>
          </p:nvPr>
        </p:nvGraphicFramePr>
        <p:xfrm>
          <a:off x="657922" y="877973"/>
          <a:ext cx="13292254" cy="7351614"/>
        </p:xfrm>
        <a:graphic>
          <a:graphicData uri="http://schemas.openxmlformats.org/drawingml/2006/table">
            <a:tbl>
              <a:tblPr>
                <a:tableStyleId>{5C22544A-7EE6-4342-B048-85BDC9FD1C3A}</a:tableStyleId>
              </a:tblPr>
              <a:tblGrid>
                <a:gridCol w="931200">
                  <a:extLst>
                    <a:ext uri="{9D8B030D-6E8A-4147-A177-3AD203B41FA5}">
                      <a16:colId xmlns:a16="http://schemas.microsoft.com/office/drawing/2014/main" val="3920841395"/>
                    </a:ext>
                  </a:extLst>
                </a:gridCol>
                <a:gridCol w="727122">
                  <a:extLst>
                    <a:ext uri="{9D8B030D-6E8A-4147-A177-3AD203B41FA5}">
                      <a16:colId xmlns:a16="http://schemas.microsoft.com/office/drawing/2014/main" val="2840870415"/>
                    </a:ext>
                  </a:extLst>
                </a:gridCol>
                <a:gridCol w="727122">
                  <a:extLst>
                    <a:ext uri="{9D8B030D-6E8A-4147-A177-3AD203B41FA5}">
                      <a16:colId xmlns:a16="http://schemas.microsoft.com/office/drawing/2014/main" val="1151291308"/>
                    </a:ext>
                  </a:extLst>
                </a:gridCol>
                <a:gridCol w="727122">
                  <a:extLst>
                    <a:ext uri="{9D8B030D-6E8A-4147-A177-3AD203B41FA5}">
                      <a16:colId xmlns:a16="http://schemas.microsoft.com/office/drawing/2014/main" val="4090370040"/>
                    </a:ext>
                  </a:extLst>
                </a:gridCol>
                <a:gridCol w="727122">
                  <a:extLst>
                    <a:ext uri="{9D8B030D-6E8A-4147-A177-3AD203B41FA5}">
                      <a16:colId xmlns:a16="http://schemas.microsoft.com/office/drawing/2014/main" val="2372881732"/>
                    </a:ext>
                  </a:extLst>
                </a:gridCol>
                <a:gridCol w="727122">
                  <a:extLst>
                    <a:ext uri="{9D8B030D-6E8A-4147-A177-3AD203B41FA5}">
                      <a16:colId xmlns:a16="http://schemas.microsoft.com/office/drawing/2014/main" val="109628312"/>
                    </a:ext>
                  </a:extLst>
                </a:gridCol>
                <a:gridCol w="727122">
                  <a:extLst>
                    <a:ext uri="{9D8B030D-6E8A-4147-A177-3AD203B41FA5}">
                      <a16:colId xmlns:a16="http://schemas.microsoft.com/office/drawing/2014/main" val="1029719595"/>
                    </a:ext>
                  </a:extLst>
                </a:gridCol>
                <a:gridCol w="727122">
                  <a:extLst>
                    <a:ext uri="{9D8B030D-6E8A-4147-A177-3AD203B41FA5}">
                      <a16:colId xmlns:a16="http://schemas.microsoft.com/office/drawing/2014/main" val="2389074426"/>
                    </a:ext>
                  </a:extLst>
                </a:gridCol>
                <a:gridCol w="908900">
                  <a:extLst>
                    <a:ext uri="{9D8B030D-6E8A-4147-A177-3AD203B41FA5}">
                      <a16:colId xmlns:a16="http://schemas.microsoft.com/office/drawing/2014/main" val="1224272185"/>
                    </a:ext>
                  </a:extLst>
                </a:gridCol>
                <a:gridCol w="908900">
                  <a:extLst>
                    <a:ext uri="{9D8B030D-6E8A-4147-A177-3AD203B41FA5}">
                      <a16:colId xmlns:a16="http://schemas.microsoft.com/office/drawing/2014/main" val="2014018588"/>
                    </a:ext>
                  </a:extLst>
                </a:gridCol>
                <a:gridCol w="908900">
                  <a:extLst>
                    <a:ext uri="{9D8B030D-6E8A-4147-A177-3AD203B41FA5}">
                      <a16:colId xmlns:a16="http://schemas.microsoft.com/office/drawing/2014/main" val="1001581985"/>
                    </a:ext>
                  </a:extLst>
                </a:gridCol>
                <a:gridCol w="908900">
                  <a:extLst>
                    <a:ext uri="{9D8B030D-6E8A-4147-A177-3AD203B41FA5}">
                      <a16:colId xmlns:a16="http://schemas.microsoft.com/office/drawing/2014/main" val="1129762992"/>
                    </a:ext>
                  </a:extLst>
                </a:gridCol>
                <a:gridCol w="908900">
                  <a:extLst>
                    <a:ext uri="{9D8B030D-6E8A-4147-A177-3AD203B41FA5}">
                      <a16:colId xmlns:a16="http://schemas.microsoft.com/office/drawing/2014/main" val="3087230711"/>
                    </a:ext>
                  </a:extLst>
                </a:gridCol>
                <a:gridCol w="908900">
                  <a:extLst>
                    <a:ext uri="{9D8B030D-6E8A-4147-A177-3AD203B41FA5}">
                      <a16:colId xmlns:a16="http://schemas.microsoft.com/office/drawing/2014/main" val="2461101573"/>
                    </a:ext>
                  </a:extLst>
                </a:gridCol>
                <a:gridCol w="908900">
                  <a:extLst>
                    <a:ext uri="{9D8B030D-6E8A-4147-A177-3AD203B41FA5}">
                      <a16:colId xmlns:a16="http://schemas.microsoft.com/office/drawing/2014/main" val="1614196596"/>
                    </a:ext>
                  </a:extLst>
                </a:gridCol>
                <a:gridCol w="908900">
                  <a:extLst>
                    <a:ext uri="{9D8B030D-6E8A-4147-A177-3AD203B41FA5}">
                      <a16:colId xmlns:a16="http://schemas.microsoft.com/office/drawing/2014/main" val="623956140"/>
                    </a:ext>
                  </a:extLst>
                </a:gridCol>
              </a:tblGrid>
              <a:tr h="772311">
                <a:tc gridSpan="8">
                  <a:txBody>
                    <a:bodyPr/>
                    <a:lstStyle/>
                    <a:p>
                      <a:pPr algn="l" fontAlgn="b">
                        <a:buNone/>
                      </a:pPr>
                      <a:r>
                        <a:rPr lang="en-IN" sz="1800" u="none" strike="noStrike" dirty="0">
                          <a:effectLst/>
                        </a:rPr>
                        <a:t>                             </a:t>
                      </a:r>
                      <a:r>
                        <a:rPr lang="en-IN" sz="2400" u="none" strike="noStrike" dirty="0">
                          <a:effectLst/>
                        </a:rPr>
                        <a:t>Netflix Content Analysis  Dashboard:</a:t>
                      </a:r>
                      <a:endParaRPr lang="en-IN" sz="2400" b="0" i="0" u="none" strike="noStrike" dirty="0">
                        <a:solidFill>
                          <a:srgbClr val="000000"/>
                        </a:solidFill>
                        <a:effectLst/>
                        <a:latin typeface="Calibri" panose="020F0502020204030204" pitchFamily="34" charset="0"/>
                      </a:endParaRPr>
                    </a:p>
                  </a:txBody>
                  <a:tcPr marL="0" marR="0" marT="0"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buNone/>
                      </a:pPr>
                      <a:endParaRPr lang="en-IN" sz="8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09662620"/>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5281854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1319078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5867085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71503063"/>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43583227"/>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9249625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06066828"/>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76342194"/>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22430394"/>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57109391"/>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26326181"/>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2207838"/>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34344664"/>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4475883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44567179"/>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4983721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30926688"/>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16434985"/>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1309250"/>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70755881"/>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63346508"/>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37233211"/>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07620941"/>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457820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87657887"/>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2432348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34495267"/>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5645975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06971283"/>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7604762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95293092"/>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260673055"/>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49998316"/>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87739363"/>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3540367"/>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79348583"/>
                  </a:ext>
                </a:extLst>
              </a:tr>
              <a:tr h="177819">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en-IN"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04707609"/>
                  </a:ext>
                </a:extLst>
              </a:tr>
            </a:tbl>
          </a:graphicData>
        </a:graphic>
      </p:graphicFrame>
      <p:graphicFrame>
        <p:nvGraphicFramePr>
          <p:cNvPr id="5" name="Chart 4">
            <a:extLst>
              <a:ext uri="{FF2B5EF4-FFF2-40B4-BE49-F238E27FC236}">
                <a16:creationId xmlns:a16="http://schemas.microsoft.com/office/drawing/2014/main" id="{E1FB3CD7-6ADF-4366-9B46-A4E11EC0F99D}"/>
              </a:ext>
            </a:extLst>
          </p:cNvPr>
          <p:cNvGraphicFramePr>
            <a:graphicFrameLocks/>
          </p:cNvGraphicFramePr>
          <p:nvPr>
            <p:extLst>
              <p:ext uri="{D42A27DB-BD31-4B8C-83A1-F6EECF244321}">
                <p14:modId xmlns:p14="http://schemas.microsoft.com/office/powerpoint/2010/main" val="1251102131"/>
              </p:ext>
            </p:extLst>
          </p:nvPr>
        </p:nvGraphicFramePr>
        <p:xfrm>
          <a:off x="680224" y="1806962"/>
          <a:ext cx="4572000" cy="28511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A2CE0854-EDC6-483D-9EFC-53D6DB67BC19}"/>
              </a:ext>
            </a:extLst>
          </p:cNvPr>
          <p:cNvGraphicFramePr>
            <a:graphicFrameLocks/>
          </p:cNvGraphicFramePr>
          <p:nvPr/>
        </p:nvGraphicFramePr>
        <p:xfrm>
          <a:off x="7459663" y="1246188"/>
          <a:ext cx="4572000" cy="28130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65E06EE9-8B21-40A6-8BBB-EF593F5BBF68}"/>
              </a:ext>
            </a:extLst>
          </p:cNvPr>
          <p:cNvGraphicFramePr>
            <a:graphicFrameLocks/>
          </p:cNvGraphicFramePr>
          <p:nvPr>
            <p:extLst>
              <p:ext uri="{D42A27DB-BD31-4B8C-83A1-F6EECF244321}">
                <p14:modId xmlns:p14="http://schemas.microsoft.com/office/powerpoint/2010/main" val="1052493346"/>
              </p:ext>
            </p:extLst>
          </p:nvPr>
        </p:nvGraphicFramePr>
        <p:xfrm>
          <a:off x="870299" y="4756301"/>
          <a:ext cx="4572000" cy="312261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83FFA207-1CA4-4FD0-9C60-919EF63F0C5C}"/>
              </a:ext>
            </a:extLst>
          </p:cNvPr>
          <p:cNvGraphicFramePr>
            <a:graphicFrameLocks/>
          </p:cNvGraphicFramePr>
          <p:nvPr/>
        </p:nvGraphicFramePr>
        <p:xfrm>
          <a:off x="7459663" y="4360863"/>
          <a:ext cx="4572000" cy="3241675"/>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6040F2B4-6F8D-C2CA-C5E9-CD9B5CA815CC}"/>
              </a:ext>
            </a:extLst>
          </p:cNvPr>
          <p:cNvSpPr txBox="1"/>
          <p:nvPr/>
        </p:nvSpPr>
        <p:spPr>
          <a:xfrm>
            <a:off x="680224" y="195009"/>
            <a:ext cx="6322742" cy="584775"/>
          </a:xfrm>
          <a:prstGeom prst="rect">
            <a:avLst/>
          </a:prstGeom>
          <a:noFill/>
        </p:spPr>
        <p:txBody>
          <a:bodyPr wrap="square" rtlCol="0">
            <a:spAutoFit/>
          </a:bodyPr>
          <a:lstStyle/>
          <a:p>
            <a:r>
              <a:rPr lang="en-US" sz="3200" dirty="0"/>
              <a:t>Excel Dashboard : Final Summary</a:t>
            </a:r>
            <a:endParaRPr lang="en-IN" sz="3200" dirty="0"/>
          </a:p>
        </p:txBody>
      </p:sp>
    </p:spTree>
    <p:extLst>
      <p:ext uri="{BB962C8B-B14F-4D97-AF65-F5344CB8AC3E}">
        <p14:creationId xmlns:p14="http://schemas.microsoft.com/office/powerpoint/2010/main" val="91708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63577" y="259532"/>
            <a:ext cx="8173879"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Conclusion &amp; Recommendations</a:t>
            </a:r>
            <a:endParaRPr lang="en-US" sz="4450" dirty="0"/>
          </a:p>
        </p:txBody>
      </p:sp>
      <p:sp>
        <p:nvSpPr>
          <p:cNvPr id="3" name="Text 1"/>
          <p:cNvSpPr/>
          <p:nvPr/>
        </p:nvSpPr>
        <p:spPr>
          <a:xfrm>
            <a:off x="467315" y="1345118"/>
            <a:ext cx="13042821" cy="725805"/>
          </a:xfrm>
          <a:prstGeom prst="rect">
            <a:avLst/>
          </a:prstGeom>
          <a:noFill/>
          <a:ln/>
        </p:spPr>
        <p:txBody>
          <a:bodyPr wrap="square" lIns="0" tIns="0" rIns="0" bIns="0" rtlCol="0" anchor="t"/>
          <a:lstStyle/>
          <a:p>
            <a:pPr marL="0" indent="0" algn="l">
              <a:lnSpc>
                <a:spcPts val="2850"/>
              </a:lnSpc>
              <a:buNone/>
            </a:pPr>
            <a:r>
              <a:rPr lang="en-US" sz="2400" dirty="0">
                <a:solidFill>
                  <a:srgbClr val="4A4A45"/>
                </a:solidFill>
                <a:latin typeface="Lato" pitchFamily="34" charset="0"/>
                <a:ea typeface="Lato" pitchFamily="34" charset="-122"/>
                <a:cs typeface="Lato" pitchFamily="34" charset="-120"/>
              </a:rPr>
              <a:t>Our analysis reveals Netflix's strategic focus on diverse content, particularly movies and mature-rated shows, with significant contributions from key countries.</a:t>
            </a:r>
            <a:endParaRPr lang="en-US" sz="2400" dirty="0"/>
          </a:p>
        </p:txBody>
      </p:sp>
      <p:sp>
        <p:nvSpPr>
          <p:cNvPr id="4" name="Shape 2"/>
          <p:cNvSpPr/>
          <p:nvPr/>
        </p:nvSpPr>
        <p:spPr>
          <a:xfrm>
            <a:off x="589594" y="2826204"/>
            <a:ext cx="510302" cy="510302"/>
          </a:xfrm>
          <a:prstGeom prst="roundRect">
            <a:avLst>
              <a:gd name="adj" fmla="val 6667"/>
            </a:avLst>
          </a:prstGeom>
          <a:solidFill>
            <a:srgbClr val="E5DFD2"/>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521" y="2881789"/>
            <a:ext cx="340162" cy="340162"/>
          </a:xfrm>
          <a:prstGeom prst="rect">
            <a:avLst/>
          </a:prstGeom>
        </p:spPr>
      </p:pic>
      <p:sp>
        <p:nvSpPr>
          <p:cNvPr id="6" name="Text 3"/>
          <p:cNvSpPr/>
          <p:nvPr/>
        </p:nvSpPr>
        <p:spPr>
          <a:xfrm>
            <a:off x="1260088" y="2826204"/>
            <a:ext cx="3869473" cy="627219"/>
          </a:xfrm>
          <a:prstGeom prst="rect">
            <a:avLst/>
          </a:prstGeom>
          <a:noFill/>
          <a:ln/>
        </p:spPr>
        <p:txBody>
          <a:bodyPr wrap="none" lIns="0" tIns="0" rIns="0" bIns="0" rtlCol="0" anchor="t"/>
          <a:lstStyle/>
          <a:p>
            <a:pPr marL="0" indent="0" algn="l">
              <a:lnSpc>
                <a:spcPts val="2750"/>
              </a:lnSpc>
              <a:buNone/>
            </a:pPr>
            <a:r>
              <a:rPr lang="en-US" sz="2800" b="1" dirty="0">
                <a:solidFill>
                  <a:srgbClr val="4A4A45"/>
                </a:solidFill>
                <a:latin typeface="Lato Bold" pitchFamily="34" charset="0"/>
                <a:ea typeface="Lato Bold" pitchFamily="34" charset="-122"/>
                <a:cs typeface="Lato Bold" pitchFamily="34" charset="-120"/>
              </a:rPr>
              <a:t>Increase Global Content</a:t>
            </a:r>
            <a:endParaRPr lang="en-US" sz="2800" dirty="0"/>
          </a:p>
        </p:txBody>
      </p:sp>
      <p:sp>
        <p:nvSpPr>
          <p:cNvPr id="7" name="Text 4"/>
          <p:cNvSpPr/>
          <p:nvPr/>
        </p:nvSpPr>
        <p:spPr>
          <a:xfrm>
            <a:off x="1260088" y="3412604"/>
            <a:ext cx="3748991" cy="1775917"/>
          </a:xfrm>
          <a:prstGeom prst="rect">
            <a:avLst/>
          </a:prstGeom>
          <a:noFill/>
          <a:ln/>
        </p:spPr>
        <p:txBody>
          <a:bodyPr wrap="square" lIns="0" tIns="0" rIns="0" bIns="0" rtlCol="0" anchor="t"/>
          <a:lstStyle/>
          <a:p>
            <a:pPr marL="0" indent="0" algn="l">
              <a:lnSpc>
                <a:spcPts val="2850"/>
              </a:lnSpc>
              <a:buNone/>
            </a:pPr>
            <a:r>
              <a:rPr lang="en-US" sz="2400" dirty="0">
                <a:solidFill>
                  <a:srgbClr val="4A4A45"/>
                </a:solidFill>
                <a:latin typeface="Lato" pitchFamily="34" charset="0"/>
                <a:ea typeface="Lato" pitchFamily="34" charset="-122"/>
                <a:cs typeface="Lato" pitchFamily="34" charset="-120"/>
              </a:rPr>
              <a:t>Expand partnerships with international creators.</a:t>
            </a:r>
            <a:endParaRPr lang="en-US" sz="2400" dirty="0"/>
          </a:p>
        </p:txBody>
      </p:sp>
      <p:sp>
        <p:nvSpPr>
          <p:cNvPr id="8" name="Shape 5"/>
          <p:cNvSpPr/>
          <p:nvPr/>
        </p:nvSpPr>
        <p:spPr>
          <a:xfrm>
            <a:off x="9075609" y="2664687"/>
            <a:ext cx="510302" cy="510302"/>
          </a:xfrm>
          <a:prstGeom prst="roundRect">
            <a:avLst>
              <a:gd name="adj" fmla="val 6667"/>
            </a:avLst>
          </a:prstGeom>
          <a:solidFill>
            <a:srgbClr val="E5DFD2"/>
          </a:solidFill>
          <a:ln/>
        </p:spPr>
        <p:txBody>
          <a:bodyPr/>
          <a:lstStyle/>
          <a:p>
            <a:endParaRPr lang="en-IN"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60679" y="2766197"/>
            <a:ext cx="340162" cy="340162"/>
          </a:xfrm>
          <a:prstGeom prst="rect">
            <a:avLst/>
          </a:prstGeom>
        </p:spPr>
      </p:pic>
      <p:sp>
        <p:nvSpPr>
          <p:cNvPr id="10" name="Text 6"/>
          <p:cNvSpPr/>
          <p:nvPr/>
        </p:nvSpPr>
        <p:spPr>
          <a:xfrm>
            <a:off x="9735015" y="2826204"/>
            <a:ext cx="3706032" cy="451079"/>
          </a:xfrm>
          <a:prstGeom prst="rect">
            <a:avLst/>
          </a:prstGeom>
          <a:noFill/>
          <a:ln/>
        </p:spPr>
        <p:txBody>
          <a:bodyPr wrap="none" lIns="0" tIns="0" rIns="0" bIns="0" rtlCol="0" anchor="t"/>
          <a:lstStyle/>
          <a:p>
            <a:pPr marL="0" indent="0" algn="l">
              <a:lnSpc>
                <a:spcPts val="2750"/>
              </a:lnSpc>
              <a:buNone/>
            </a:pPr>
            <a:r>
              <a:rPr lang="en-US" sz="2800" b="1" dirty="0">
                <a:solidFill>
                  <a:srgbClr val="4A4A45"/>
                </a:solidFill>
                <a:latin typeface="Lato Bold" pitchFamily="34" charset="0"/>
                <a:ea typeface="Lato Bold" pitchFamily="34" charset="-122"/>
                <a:cs typeface="Lato Bold" pitchFamily="34" charset="-120"/>
              </a:rPr>
              <a:t>Maintain Genre Variety</a:t>
            </a:r>
            <a:endParaRPr lang="en-US" sz="2800" dirty="0"/>
          </a:p>
        </p:txBody>
      </p:sp>
      <p:sp>
        <p:nvSpPr>
          <p:cNvPr id="11" name="Text 7"/>
          <p:cNvSpPr/>
          <p:nvPr/>
        </p:nvSpPr>
        <p:spPr>
          <a:xfrm>
            <a:off x="9761145" y="3412604"/>
            <a:ext cx="3748991" cy="1020834"/>
          </a:xfrm>
          <a:prstGeom prst="rect">
            <a:avLst/>
          </a:prstGeom>
          <a:noFill/>
          <a:ln/>
        </p:spPr>
        <p:txBody>
          <a:bodyPr wrap="square" lIns="0" tIns="0" rIns="0" bIns="0" rtlCol="0" anchor="t"/>
          <a:lstStyle/>
          <a:p>
            <a:pPr marL="0" indent="0" algn="l">
              <a:lnSpc>
                <a:spcPts val="2850"/>
              </a:lnSpc>
              <a:buNone/>
            </a:pPr>
            <a:r>
              <a:rPr lang="en-US" sz="2400" dirty="0">
                <a:solidFill>
                  <a:srgbClr val="4A4A45"/>
                </a:solidFill>
                <a:latin typeface="Lato" pitchFamily="34" charset="0"/>
                <a:ea typeface="Lato" pitchFamily="34" charset="-122"/>
                <a:cs typeface="Lato" pitchFamily="34" charset="-120"/>
              </a:rPr>
              <a:t>Continue investing in diverse genres to cater to all tastes.</a:t>
            </a:r>
            <a:endParaRPr lang="en-US" sz="2400" dirty="0"/>
          </a:p>
        </p:txBody>
      </p:sp>
      <p:sp>
        <p:nvSpPr>
          <p:cNvPr id="12" name="Shape 8"/>
          <p:cNvSpPr/>
          <p:nvPr/>
        </p:nvSpPr>
        <p:spPr>
          <a:xfrm>
            <a:off x="5221040" y="5448834"/>
            <a:ext cx="510302" cy="510302"/>
          </a:xfrm>
          <a:prstGeom prst="roundRect">
            <a:avLst>
              <a:gd name="adj" fmla="val 6667"/>
            </a:avLst>
          </a:prstGeom>
          <a:solidFill>
            <a:srgbClr val="E5DFD2"/>
          </a:solidFill>
          <a:ln/>
        </p:spPr>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06110" y="5558187"/>
            <a:ext cx="340162" cy="340162"/>
          </a:xfrm>
          <a:prstGeom prst="rect">
            <a:avLst/>
          </a:prstGeom>
        </p:spPr>
      </p:pic>
      <p:sp>
        <p:nvSpPr>
          <p:cNvPr id="14" name="Text 9"/>
          <p:cNvSpPr/>
          <p:nvPr/>
        </p:nvSpPr>
        <p:spPr>
          <a:xfrm>
            <a:off x="5816412" y="5354245"/>
            <a:ext cx="4101662" cy="725805"/>
          </a:xfrm>
          <a:prstGeom prst="rect">
            <a:avLst/>
          </a:prstGeom>
          <a:noFill/>
          <a:ln/>
        </p:spPr>
        <p:txBody>
          <a:bodyPr wrap="square" lIns="0" tIns="0" rIns="0" bIns="0" rtlCol="0" anchor="t"/>
          <a:lstStyle/>
          <a:p>
            <a:pPr marL="0" indent="0" algn="l">
              <a:lnSpc>
                <a:spcPts val="2750"/>
              </a:lnSpc>
              <a:buNone/>
            </a:pPr>
            <a:r>
              <a:rPr lang="en-US" sz="2800" b="1" dirty="0">
                <a:solidFill>
                  <a:srgbClr val="4A4A45"/>
                </a:solidFill>
                <a:latin typeface="Lato Bold" pitchFamily="34" charset="0"/>
                <a:ea typeface="Lato Bold" pitchFamily="34" charset="-122"/>
                <a:cs typeface="Lato Bold" pitchFamily="34" charset="-120"/>
              </a:rPr>
              <a:t>More Family-Friendly Content</a:t>
            </a:r>
            <a:endParaRPr lang="en-US" sz="2800" dirty="0"/>
          </a:p>
        </p:txBody>
      </p:sp>
      <p:sp>
        <p:nvSpPr>
          <p:cNvPr id="15" name="Text 10"/>
          <p:cNvSpPr/>
          <p:nvPr/>
        </p:nvSpPr>
        <p:spPr>
          <a:xfrm>
            <a:off x="5845227" y="6376746"/>
            <a:ext cx="3740684" cy="1062965"/>
          </a:xfrm>
          <a:prstGeom prst="rect">
            <a:avLst/>
          </a:prstGeom>
          <a:noFill/>
          <a:ln/>
        </p:spPr>
        <p:txBody>
          <a:bodyPr wrap="square" lIns="0" tIns="0" rIns="0" bIns="0" rtlCol="0" anchor="t"/>
          <a:lstStyle/>
          <a:p>
            <a:pPr marL="0" indent="0" algn="l">
              <a:lnSpc>
                <a:spcPts val="2850"/>
              </a:lnSpc>
              <a:buNone/>
            </a:pPr>
            <a:r>
              <a:rPr lang="en-US" sz="2400" dirty="0">
                <a:solidFill>
                  <a:srgbClr val="4A4A45"/>
                </a:solidFill>
                <a:latin typeface="Lato" pitchFamily="34" charset="0"/>
                <a:ea typeface="Lato" pitchFamily="34" charset="-122"/>
                <a:cs typeface="Lato" pitchFamily="34" charset="-120"/>
              </a:rPr>
              <a:t>Address the gap in content suitable for younger audiences.</a:t>
            </a:r>
            <a:endParaRPr lang="en-US" sz="2400" dirty="0"/>
          </a:p>
        </p:txBody>
      </p:sp>
      <p:sp>
        <p:nvSpPr>
          <p:cNvPr id="16" name="Text 11"/>
          <p:cNvSpPr/>
          <p:nvPr/>
        </p:nvSpPr>
        <p:spPr>
          <a:xfrm>
            <a:off x="626521" y="5684044"/>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97C4F7-54BB-D990-7739-AEA5400D5A8D}"/>
              </a:ext>
            </a:extLst>
          </p:cNvPr>
          <p:cNvPicPr>
            <a:picLocks noChangeAspect="1"/>
          </p:cNvPicPr>
          <p:nvPr/>
        </p:nvPicPr>
        <p:blipFill>
          <a:blip r:embed="rId2"/>
          <a:stretch>
            <a:fillRect/>
          </a:stretch>
        </p:blipFill>
        <p:spPr>
          <a:xfrm>
            <a:off x="0" y="-1"/>
            <a:ext cx="14630400" cy="5107259"/>
          </a:xfrm>
          <a:prstGeom prst="rect">
            <a:avLst/>
          </a:prstGeom>
        </p:spPr>
      </p:pic>
      <p:sp>
        <p:nvSpPr>
          <p:cNvPr id="4" name="TextBox 3">
            <a:extLst>
              <a:ext uri="{FF2B5EF4-FFF2-40B4-BE49-F238E27FC236}">
                <a16:creationId xmlns:a16="http://schemas.microsoft.com/office/drawing/2014/main" id="{FCE8CE26-5D9D-6224-353F-BAE4F26651E1}"/>
              </a:ext>
            </a:extLst>
          </p:cNvPr>
          <p:cNvSpPr txBox="1"/>
          <p:nvPr/>
        </p:nvSpPr>
        <p:spPr>
          <a:xfrm>
            <a:off x="4560850" y="5765180"/>
            <a:ext cx="5296829" cy="1200329"/>
          </a:xfrm>
          <a:prstGeom prst="rect">
            <a:avLst/>
          </a:prstGeom>
          <a:noFill/>
        </p:spPr>
        <p:txBody>
          <a:bodyPr wrap="square" rtlCol="0">
            <a:spAutoFit/>
          </a:bodyPr>
          <a:lstStyle/>
          <a:p>
            <a:r>
              <a:rPr lang="en-US" sz="7200" dirty="0"/>
              <a:t>  </a:t>
            </a:r>
            <a:r>
              <a:rPr lang="en-US" sz="7200" dirty="0">
                <a:solidFill>
                  <a:srgbClr val="0070C0"/>
                </a:solidFill>
              </a:rPr>
              <a:t>Thank you !</a:t>
            </a:r>
            <a:endParaRPr lang="en-IN" sz="7200" dirty="0">
              <a:solidFill>
                <a:srgbClr val="0070C0"/>
              </a:solidFill>
            </a:endParaRPr>
          </a:p>
        </p:txBody>
      </p:sp>
    </p:spTree>
    <p:extLst>
      <p:ext uri="{BB962C8B-B14F-4D97-AF65-F5344CB8AC3E}">
        <p14:creationId xmlns:p14="http://schemas.microsoft.com/office/powerpoint/2010/main" val="777540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581</Words>
  <Application>Microsoft Office PowerPoint</Application>
  <PresentationFormat>Custom</PresentationFormat>
  <Paragraphs>90</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Lato Bold</vt:lpstr>
      <vt:lpstr>Lato</vt:lpstr>
      <vt:lpstr>Arial</vt:lpstr>
      <vt:lpstr>Lato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Suraj Tripathi</cp:lastModifiedBy>
  <cp:revision>5</cp:revision>
  <dcterms:created xsi:type="dcterms:W3CDTF">2025-11-25T09:03:02Z</dcterms:created>
  <dcterms:modified xsi:type="dcterms:W3CDTF">2025-12-06T14:27:41Z</dcterms:modified>
</cp:coreProperties>
</file>